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</p:sldIdLst>
  <p:sldSz cx="18288000" cy="10287000"/>
  <p:notesSz cx="6858000" cy="9144000"/>
  <p:embeddedFontLst>
    <p:embeddedFont>
      <p:font typeface="Tahoma" charset="1" panose="020B0604030504040204"/>
      <p:regular r:id="rId22"/>
    </p:embeddedFont>
    <p:embeddedFont>
      <p:font typeface="Calibri (MS)" charset="1" panose="020F0502020204030204"/>
      <p:regular r:id="rId23"/>
    </p:embeddedFont>
    <p:embeddedFont>
      <p:font typeface="Arimo" charset="1" panose="020B0604020202020204"/>
      <p:regular r:id="rId24"/>
    </p:embeddedFont>
    <p:embeddedFont>
      <p:font typeface="Arimo Bold" charset="1" panose="020B0704020202020204"/>
      <p:regular r:id="rId25"/>
    </p:embeddedFont>
    <p:embeddedFont>
      <p:font typeface="League Spartan" charset="1" panose="00000800000000000000"/>
      <p:regular r:id="rId2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fonts/font22.fntdata" Type="http://schemas.openxmlformats.org/officeDocument/2006/relationships/font"/><Relationship Id="rId23" Target="fonts/font23.fntdata" Type="http://schemas.openxmlformats.org/officeDocument/2006/relationships/font"/><Relationship Id="rId24" Target="fonts/font24.fntdata" Type="http://schemas.openxmlformats.org/officeDocument/2006/relationships/font"/><Relationship Id="rId25" Target="fonts/font25.fntdata" Type="http://schemas.openxmlformats.org/officeDocument/2006/relationships/font"/><Relationship Id="rId26" Target="fonts/font26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mailto:anish_ashwin.patni@utt.fr" TargetMode="External" Type="http://schemas.openxmlformats.org/officeDocument/2006/relationships/hyperlink"/><Relationship Id="rId4" Target="mailto:krisha.devannavar@utt.fr" TargetMode="External" Type="http://schemas.openxmlformats.org/officeDocument/2006/relationships/hyperlink"/><Relationship Id="rId5" Target="mailto:lyudmil.apostolov@utt.fr" TargetMode="External" Type="http://schemas.openxmlformats.org/officeDocument/2006/relationships/hyperlink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Relationship Id="rId5" Target="../media/image4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5.png" Type="http://schemas.openxmlformats.org/officeDocument/2006/relationships/image"/><Relationship Id="rId4" Target="../media/image6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7.png" Type="http://schemas.openxmlformats.org/officeDocument/2006/relationships/image"/><Relationship Id="rId4" Target="../media/image8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9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10.png" Type="http://schemas.openxmlformats.org/officeDocument/2006/relationships/image"/><Relationship Id="rId4" Target="../media/image11.png" Type="http://schemas.openxmlformats.org/officeDocument/2006/relationships/image"/><Relationship Id="rId5" Target="../media/image12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13.png" Type="http://schemas.openxmlformats.org/officeDocument/2006/relationships/image"/><Relationship Id="rId4" Target="../media/image14.png" Type="http://schemas.openxmlformats.org/officeDocument/2006/relationships/image"/><Relationship Id="rId5" Target="../media/image15.png" Type="http://schemas.openxmlformats.org/officeDocument/2006/relationships/image"/><Relationship Id="rId6" Target="../media/image16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17.png" Type="http://schemas.openxmlformats.org/officeDocument/2006/relationships/image"/><Relationship Id="rId4" Target="../media/image18.svg" Type="http://schemas.openxmlformats.org/officeDocument/2006/relationships/image"/><Relationship Id="rId5" Target="../media/image19.png" Type="http://schemas.openxmlformats.org/officeDocument/2006/relationships/image"/><Relationship Id="rId6" Target="../media/image20.svg" Type="http://schemas.openxmlformats.org/officeDocument/2006/relationships/image"/><Relationship Id="rId7" Target="../media/image21.png" Type="http://schemas.openxmlformats.org/officeDocument/2006/relationships/image"/><Relationship Id="rId8" Target="../media/image22.sv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3.png" Type="http://schemas.openxmlformats.org/officeDocument/2006/relationships/image"/><Relationship Id="rId4" Target="../media/image24.png" Type="http://schemas.openxmlformats.org/officeDocument/2006/relationships/image"/><Relationship Id="rId5" Target="../media/image25.png" Type="http://schemas.openxmlformats.org/officeDocument/2006/relationships/image"/><Relationship Id="rId6" Target="../media/image26.png" Type="http://schemas.openxmlformats.org/officeDocument/2006/relationships/image"/><Relationship Id="rId7" Target="../media/image27.png" Type="http://schemas.openxmlformats.org/officeDocument/2006/relationships/image"/><Relationship Id="rId8" Target="../media/image28.sv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9.png" Type="http://schemas.openxmlformats.org/officeDocument/2006/relationships/image"/><Relationship Id="rId4" Target="../media/image30.png" Type="http://schemas.openxmlformats.org/officeDocument/2006/relationships/image"/><Relationship Id="rId5" Target="../media/image31.png" Type="http://schemas.openxmlformats.org/officeDocument/2006/relationships/image"/><Relationship Id="rId6" Target="../media/image32.png" Type="http://schemas.openxmlformats.org/officeDocument/2006/relationships/image"/><Relationship Id="rId7" Target="../media/image33.pn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34.png" Type="http://schemas.openxmlformats.org/officeDocument/2006/relationships/image"/><Relationship Id="rId4" Target="../media/image35.png" Type="http://schemas.openxmlformats.org/officeDocument/2006/relationships/image"/><Relationship Id="rId5" Target="../media/image36.png" Type="http://schemas.openxmlformats.org/officeDocument/2006/relationships/image"/><Relationship Id="rId6" Target="../media/image37.png" Type="http://schemas.openxmlformats.org/officeDocument/2006/relationships/image"/><Relationship Id="rId7" Target="../media/image38.png" Type="http://schemas.openxmlformats.org/officeDocument/2006/relationships/image"/><Relationship Id="rId8" Target="../media/image39.sv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838325"/>
            <a:chOff x="0" y="0"/>
            <a:chExt cx="24384000" cy="24511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2451100"/>
            </a:xfrm>
            <a:custGeom>
              <a:avLst/>
              <a:gdLst/>
              <a:ahLst/>
              <a:cxnLst/>
              <a:rect r="r" b="b" t="t" l="l"/>
              <a:pathLst>
                <a:path h="24511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2451100"/>
                  </a:lnTo>
                  <a:lnTo>
                    <a:pt x="0" y="24511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sp>
        <p:nvSpPr>
          <p:cNvPr name="TextBox 4" id="4" descr="$PPTXTitle"/>
          <p:cNvSpPr txBox="true"/>
          <p:nvPr/>
        </p:nvSpPr>
        <p:spPr>
          <a:xfrm rot="0">
            <a:off x="3036379" y="2378088"/>
            <a:ext cx="12215698" cy="9298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00"/>
              </a:lnSpc>
            </a:pPr>
            <a:r>
              <a:rPr lang="en-US" sz="60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NF06_EN - Friday Group 7 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6602837" y="9650197"/>
            <a:ext cx="366712" cy="314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31"/>
              </a:lnSpc>
            </a:pPr>
            <a:r>
              <a:rPr lang="en-US" sz="1800">
                <a:solidFill>
                  <a:srgbClr val="888888"/>
                </a:solidFill>
                <a:latin typeface="Calibri (MS)"/>
                <a:ea typeface="Calibri (MS)"/>
                <a:cs typeface="Calibri (MS)"/>
                <a:sym typeface="Calibri (MS)"/>
              </a:rPr>
              <a:t>‹#›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3234976" y="3936187"/>
            <a:ext cx="12032847" cy="60046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759"/>
              </a:lnSpc>
            </a:pPr>
            <a:r>
              <a:rPr lang="en-US" sz="48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E-commerce Delivery Management System in C</a:t>
            </a:r>
          </a:p>
          <a:p>
            <a:pPr algn="ctr">
              <a:lnSpc>
                <a:spcPts val="2520"/>
              </a:lnSpc>
            </a:pPr>
          </a:p>
          <a:p>
            <a:pPr algn="ctr">
              <a:lnSpc>
                <a:spcPts val="4320"/>
              </a:lnSpc>
            </a:pPr>
            <a:r>
              <a:rPr lang="en-US" sz="36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Anish Patni</a:t>
            </a:r>
          </a:p>
          <a:p>
            <a:pPr algn="ctr">
              <a:lnSpc>
                <a:spcPts val="4320"/>
              </a:lnSpc>
            </a:pPr>
            <a:r>
              <a:rPr lang="en-US" sz="36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Lyudmil Apostolov</a:t>
            </a:r>
          </a:p>
          <a:p>
            <a:pPr algn="ctr">
              <a:lnSpc>
                <a:spcPts val="4320"/>
              </a:lnSpc>
            </a:pPr>
            <a:r>
              <a:rPr lang="en-US" sz="36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Krisha Devannavar</a:t>
            </a:r>
          </a:p>
          <a:p>
            <a:pPr algn="ctr">
              <a:lnSpc>
                <a:spcPts val="2520"/>
              </a:lnSpc>
            </a:pPr>
          </a:p>
          <a:p>
            <a:pPr algn="ctr">
              <a:lnSpc>
                <a:spcPts val="4320"/>
              </a:lnSpc>
            </a:pPr>
            <a:r>
              <a:rPr lang="en-US" sz="3600" u="sng">
                <a:solidFill>
                  <a:srgbClr val="0000FF"/>
                </a:solidFill>
                <a:latin typeface="Calibri (MS)"/>
                <a:ea typeface="Calibri (MS)"/>
                <a:cs typeface="Calibri (MS)"/>
                <a:sym typeface="Calibri (MS)"/>
                <a:hlinkClick r:id="rId3" tooltip="mailto:anish_ashwin.patni@utt.fr"/>
              </a:rPr>
              <a:t>anish_ashwin.patni@utt.fr</a:t>
            </a:r>
          </a:p>
          <a:p>
            <a:pPr algn="ctr">
              <a:lnSpc>
                <a:spcPts val="4320"/>
              </a:lnSpc>
            </a:pPr>
            <a:r>
              <a:rPr lang="en-US" sz="3600" u="sng">
                <a:solidFill>
                  <a:srgbClr val="0000FF"/>
                </a:solidFill>
                <a:latin typeface="Calibri (MS)"/>
                <a:ea typeface="Calibri (MS)"/>
                <a:cs typeface="Calibri (MS)"/>
                <a:sym typeface="Calibri (MS)"/>
                <a:hlinkClick r:id="rId4" tooltip="mailto:krisha.devannavar@utt.fr"/>
              </a:rPr>
              <a:t>krisha.devannavar@utt.fr</a:t>
            </a:r>
          </a:p>
          <a:p>
            <a:pPr algn="ctr">
              <a:lnSpc>
                <a:spcPts val="4320"/>
              </a:lnSpc>
            </a:pPr>
            <a:r>
              <a:rPr lang="en-US" sz="3600" u="sng">
                <a:solidFill>
                  <a:srgbClr val="0000FF"/>
                </a:solidFill>
                <a:latin typeface="Calibri (MS)"/>
                <a:ea typeface="Calibri (MS)"/>
                <a:cs typeface="Calibri (MS)"/>
                <a:sym typeface="Calibri (MS)"/>
                <a:hlinkClick r:id="rId5" tooltip="mailto:lyudmil.apostolov@utt.fr"/>
              </a:rPr>
              <a:t>lyudmil.apostolov@utt.fr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838325"/>
            <a:chOff x="0" y="0"/>
            <a:chExt cx="24384000" cy="24511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2451100"/>
            </a:xfrm>
            <a:custGeom>
              <a:avLst/>
              <a:gdLst/>
              <a:ahLst/>
              <a:cxnLst/>
              <a:rect r="r" b="b" t="t" l="l"/>
              <a:pathLst>
                <a:path h="24511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2451100"/>
                  </a:lnTo>
                  <a:lnTo>
                    <a:pt x="0" y="24511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sp>
        <p:nvSpPr>
          <p:cNvPr name="TextBox 4" id="4"/>
          <p:cNvSpPr txBox="true"/>
          <p:nvPr/>
        </p:nvSpPr>
        <p:spPr>
          <a:xfrm rot="0">
            <a:off x="16602837" y="9650197"/>
            <a:ext cx="366712" cy="314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31"/>
              </a:lnSpc>
            </a:pPr>
            <a:r>
              <a:rPr lang="en-US" sz="1800">
                <a:solidFill>
                  <a:srgbClr val="888888"/>
                </a:solidFill>
                <a:latin typeface="Calibri (MS)"/>
                <a:ea typeface="Calibri (MS)"/>
                <a:cs typeface="Calibri (MS)"/>
                <a:sym typeface="Calibri (MS)"/>
              </a:rPr>
              <a:t>‹#›</a:t>
            </a:r>
          </a:p>
        </p:txBody>
      </p:sp>
      <p:grpSp>
        <p:nvGrpSpPr>
          <p:cNvPr name="Group 5" id="5"/>
          <p:cNvGrpSpPr/>
          <p:nvPr/>
        </p:nvGrpSpPr>
        <p:grpSpPr>
          <a:xfrm rot="0">
            <a:off x="1179528" y="3692662"/>
            <a:ext cx="15928943" cy="5200650"/>
            <a:chOff x="0" y="0"/>
            <a:chExt cx="21238591" cy="6934200"/>
          </a:xfrm>
        </p:grpSpPr>
        <p:sp>
          <p:nvSpPr>
            <p:cNvPr name="Freeform 6" id="6" descr="image.png"/>
            <p:cNvSpPr/>
            <p:nvPr/>
          </p:nvSpPr>
          <p:spPr>
            <a:xfrm flipH="false" flipV="false" rot="0">
              <a:off x="0" y="0"/>
              <a:ext cx="21238617" cy="6934200"/>
            </a:xfrm>
            <a:custGeom>
              <a:avLst/>
              <a:gdLst/>
              <a:ahLst/>
              <a:cxnLst/>
              <a:rect r="r" b="b" t="t" l="l"/>
              <a:pathLst>
                <a:path h="6934200" w="21238617">
                  <a:moveTo>
                    <a:pt x="104422" y="0"/>
                  </a:moveTo>
                  <a:lnTo>
                    <a:pt x="21134195" y="0"/>
                  </a:lnTo>
                  <a:cubicBezTo>
                    <a:pt x="21191866" y="0"/>
                    <a:pt x="21238617" y="46751"/>
                    <a:pt x="21238617" y="104422"/>
                  </a:cubicBezTo>
                  <a:lnTo>
                    <a:pt x="21238617" y="6829778"/>
                  </a:lnTo>
                  <a:cubicBezTo>
                    <a:pt x="21238617" y="6887449"/>
                    <a:pt x="21191866" y="6934200"/>
                    <a:pt x="21134195" y="6934200"/>
                  </a:cubicBezTo>
                  <a:lnTo>
                    <a:pt x="104422" y="6934200"/>
                  </a:lnTo>
                  <a:cubicBezTo>
                    <a:pt x="46751" y="6934200"/>
                    <a:pt x="0" y="6887449"/>
                    <a:pt x="0" y="6829778"/>
                  </a:cubicBezTo>
                  <a:lnTo>
                    <a:pt x="0" y="104422"/>
                  </a:lnTo>
                  <a:cubicBezTo>
                    <a:pt x="0" y="46751"/>
                    <a:pt x="46751" y="0"/>
                    <a:pt x="104422" y="0"/>
                  </a:cubicBezTo>
                  <a:close/>
                </a:path>
              </a:pathLst>
            </a:custGeom>
            <a:solidFill>
              <a:srgbClr val="19347E"/>
            </a:solidFill>
          </p:spPr>
        </p:sp>
      </p:grpSp>
      <p:sp>
        <p:nvSpPr>
          <p:cNvPr name="TextBox 7" id="7"/>
          <p:cNvSpPr txBox="true"/>
          <p:nvPr/>
        </p:nvSpPr>
        <p:spPr>
          <a:xfrm rot="0">
            <a:off x="3794027" y="2349094"/>
            <a:ext cx="10699947" cy="8327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759"/>
              </a:lnSpc>
            </a:pPr>
            <a:r>
              <a:rPr lang="en-US" sz="48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What the system does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835216" y="4635637"/>
            <a:ext cx="14617568" cy="3295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64154" indent="-332077" lvl="1">
              <a:lnSpc>
                <a:spcPts val="3600"/>
              </a:lnSpc>
              <a:buFont typeface="Arial"/>
              <a:buChar char="•"/>
            </a:pPr>
            <a:r>
              <a:rPr lang="en-US" sz="3000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Customer browse a product catalog loaded from a CSV file, build a cart &amp; place orders with a priority level that can be chosen</a:t>
            </a:r>
          </a:p>
          <a:p>
            <a:pPr algn="l" marL="398493" indent="-199247" lvl="1">
              <a:lnSpc>
                <a:spcPts val="2160"/>
              </a:lnSpc>
            </a:pPr>
          </a:p>
          <a:p>
            <a:pPr algn="l" marL="664154" indent="-332077" lvl="1">
              <a:lnSpc>
                <a:spcPts val="3600"/>
              </a:lnSpc>
              <a:buFont typeface="Arial"/>
              <a:buChar char="•"/>
            </a:pPr>
            <a:r>
              <a:rPr lang="en-US" sz="3000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Administrators process deliveries using a priority scheduling rule and track total revenue and completed deliveries </a:t>
            </a:r>
          </a:p>
          <a:p>
            <a:pPr algn="l" marL="398493" indent="-199247" lvl="1">
              <a:lnSpc>
                <a:spcPts val="2160"/>
              </a:lnSpc>
            </a:pPr>
          </a:p>
          <a:p>
            <a:pPr algn="l" marL="664154" indent="-332077" lvl="1">
              <a:lnSpc>
                <a:spcPts val="3600"/>
              </a:lnSpc>
              <a:buFont typeface="Arial"/>
              <a:buChar char="•"/>
            </a:pPr>
            <a:r>
              <a:rPr lang="en-US" sz="3000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All orders are managed in memory using two priority queues and a delivery history is saved to a daily log file 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838325"/>
            <a:chOff x="0" y="0"/>
            <a:chExt cx="24384000" cy="24511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2451100"/>
            </a:xfrm>
            <a:custGeom>
              <a:avLst/>
              <a:gdLst/>
              <a:ahLst/>
              <a:cxnLst/>
              <a:rect r="r" b="b" t="t" l="l"/>
              <a:pathLst>
                <a:path h="24511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2451100"/>
                  </a:lnTo>
                  <a:lnTo>
                    <a:pt x="0" y="24511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sp>
        <p:nvSpPr>
          <p:cNvPr name="TextBox 4" id="4"/>
          <p:cNvSpPr txBox="true"/>
          <p:nvPr/>
        </p:nvSpPr>
        <p:spPr>
          <a:xfrm rot="0">
            <a:off x="16602837" y="9650197"/>
            <a:ext cx="366751" cy="3248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31"/>
              </a:lnSpc>
            </a:pPr>
            <a:r>
              <a:rPr lang="en-US" sz="1800">
                <a:solidFill>
                  <a:srgbClr val="888888"/>
                </a:solidFill>
                <a:latin typeface="Calibri (MS)"/>
                <a:ea typeface="Calibri (MS)"/>
                <a:cs typeface="Calibri (MS)"/>
                <a:sym typeface="Calibri (MS)"/>
              </a:rPr>
              <a:t>‹#›</a:t>
            </a:r>
          </a:p>
        </p:txBody>
      </p:sp>
      <p:grpSp>
        <p:nvGrpSpPr>
          <p:cNvPr name="Group 5" id="5"/>
          <p:cNvGrpSpPr/>
          <p:nvPr/>
        </p:nvGrpSpPr>
        <p:grpSpPr>
          <a:xfrm rot="0">
            <a:off x="857250" y="3171825"/>
            <a:ext cx="5238826" cy="5200650"/>
            <a:chOff x="0" y="0"/>
            <a:chExt cx="6985102" cy="6934200"/>
          </a:xfrm>
        </p:grpSpPr>
        <p:sp>
          <p:nvSpPr>
            <p:cNvPr name="Freeform 6" id="6" descr="image.png"/>
            <p:cNvSpPr/>
            <p:nvPr/>
          </p:nvSpPr>
          <p:spPr>
            <a:xfrm flipH="false" flipV="false" rot="0">
              <a:off x="0" y="0"/>
              <a:ext cx="6985127" cy="6934200"/>
            </a:xfrm>
            <a:custGeom>
              <a:avLst/>
              <a:gdLst/>
              <a:ahLst/>
              <a:cxnLst/>
              <a:rect r="r" b="b" t="t" l="l"/>
              <a:pathLst>
                <a:path h="6934200" w="6985127">
                  <a:moveTo>
                    <a:pt x="317500" y="0"/>
                  </a:moveTo>
                  <a:lnTo>
                    <a:pt x="6667627" y="0"/>
                  </a:lnTo>
                  <a:cubicBezTo>
                    <a:pt x="6751834" y="0"/>
                    <a:pt x="6832591" y="33451"/>
                    <a:pt x="6892134" y="92994"/>
                  </a:cubicBezTo>
                  <a:cubicBezTo>
                    <a:pt x="6951676" y="152536"/>
                    <a:pt x="6985127" y="233294"/>
                    <a:pt x="6985127" y="317500"/>
                  </a:cubicBezTo>
                  <a:lnTo>
                    <a:pt x="6985127" y="6616700"/>
                  </a:lnTo>
                  <a:cubicBezTo>
                    <a:pt x="6985127" y="6792051"/>
                    <a:pt x="6842978" y="6934200"/>
                    <a:pt x="6667627" y="6934200"/>
                  </a:cubicBezTo>
                  <a:lnTo>
                    <a:pt x="317500" y="6934200"/>
                  </a:lnTo>
                  <a:cubicBezTo>
                    <a:pt x="142150" y="6934200"/>
                    <a:pt x="0" y="6792051"/>
                    <a:pt x="0" y="6616700"/>
                  </a:cubicBezTo>
                  <a:lnTo>
                    <a:pt x="0" y="317500"/>
                  </a:lnTo>
                  <a:cubicBezTo>
                    <a:pt x="0" y="142150"/>
                    <a:pt x="142150" y="0"/>
                    <a:pt x="317500" y="0"/>
                  </a:cubicBezTo>
                  <a:close/>
                </a:path>
              </a:pathLst>
            </a:custGeom>
            <a:solidFill>
              <a:srgbClr val="19347E"/>
            </a:solidFill>
          </p:spPr>
        </p:sp>
      </p:grpSp>
      <p:grpSp>
        <p:nvGrpSpPr>
          <p:cNvPr name="Group 7" id="7"/>
          <p:cNvGrpSpPr/>
          <p:nvPr/>
        </p:nvGrpSpPr>
        <p:grpSpPr>
          <a:xfrm rot="0">
            <a:off x="6524701" y="3171825"/>
            <a:ext cx="5238826" cy="5200650"/>
            <a:chOff x="0" y="0"/>
            <a:chExt cx="6985102" cy="6934200"/>
          </a:xfrm>
        </p:grpSpPr>
        <p:sp>
          <p:nvSpPr>
            <p:cNvPr name="Freeform 8" id="8" descr="image.png"/>
            <p:cNvSpPr/>
            <p:nvPr/>
          </p:nvSpPr>
          <p:spPr>
            <a:xfrm flipH="false" flipV="false" rot="0">
              <a:off x="0" y="0"/>
              <a:ext cx="6985127" cy="6934200"/>
            </a:xfrm>
            <a:custGeom>
              <a:avLst/>
              <a:gdLst/>
              <a:ahLst/>
              <a:cxnLst/>
              <a:rect r="r" b="b" t="t" l="l"/>
              <a:pathLst>
                <a:path h="6934200" w="6985127">
                  <a:moveTo>
                    <a:pt x="317500" y="0"/>
                  </a:moveTo>
                  <a:lnTo>
                    <a:pt x="6667627" y="0"/>
                  </a:lnTo>
                  <a:cubicBezTo>
                    <a:pt x="6751834" y="0"/>
                    <a:pt x="6832591" y="33451"/>
                    <a:pt x="6892134" y="92994"/>
                  </a:cubicBezTo>
                  <a:cubicBezTo>
                    <a:pt x="6951676" y="152536"/>
                    <a:pt x="6985127" y="233294"/>
                    <a:pt x="6985127" y="317500"/>
                  </a:cubicBezTo>
                  <a:lnTo>
                    <a:pt x="6985127" y="6616700"/>
                  </a:lnTo>
                  <a:cubicBezTo>
                    <a:pt x="6985127" y="6792051"/>
                    <a:pt x="6842978" y="6934200"/>
                    <a:pt x="6667627" y="6934200"/>
                  </a:cubicBezTo>
                  <a:lnTo>
                    <a:pt x="317500" y="6934200"/>
                  </a:lnTo>
                  <a:cubicBezTo>
                    <a:pt x="142150" y="6934200"/>
                    <a:pt x="0" y="6792051"/>
                    <a:pt x="0" y="6616700"/>
                  </a:cubicBezTo>
                  <a:lnTo>
                    <a:pt x="0" y="317500"/>
                  </a:lnTo>
                  <a:cubicBezTo>
                    <a:pt x="0" y="142150"/>
                    <a:pt x="142150" y="0"/>
                    <a:pt x="317500" y="0"/>
                  </a:cubicBezTo>
                  <a:close/>
                </a:path>
              </a:pathLst>
            </a:custGeom>
            <a:solidFill>
              <a:srgbClr val="19347E"/>
            </a:solidFill>
          </p:spPr>
        </p:sp>
      </p:grpSp>
      <p:grpSp>
        <p:nvGrpSpPr>
          <p:cNvPr name="Group 9" id="9"/>
          <p:cNvGrpSpPr/>
          <p:nvPr/>
        </p:nvGrpSpPr>
        <p:grpSpPr>
          <a:xfrm rot="0">
            <a:off x="12192152" y="3171825"/>
            <a:ext cx="5238826" cy="5200650"/>
            <a:chOff x="0" y="0"/>
            <a:chExt cx="6985102" cy="6934200"/>
          </a:xfrm>
        </p:grpSpPr>
        <p:sp>
          <p:nvSpPr>
            <p:cNvPr name="Freeform 10" id="10" descr="image.png"/>
            <p:cNvSpPr/>
            <p:nvPr/>
          </p:nvSpPr>
          <p:spPr>
            <a:xfrm flipH="false" flipV="false" rot="0">
              <a:off x="0" y="0"/>
              <a:ext cx="6985127" cy="6934200"/>
            </a:xfrm>
            <a:custGeom>
              <a:avLst/>
              <a:gdLst/>
              <a:ahLst/>
              <a:cxnLst/>
              <a:rect r="r" b="b" t="t" l="l"/>
              <a:pathLst>
                <a:path h="6934200" w="6985127">
                  <a:moveTo>
                    <a:pt x="317500" y="0"/>
                  </a:moveTo>
                  <a:lnTo>
                    <a:pt x="6667627" y="0"/>
                  </a:lnTo>
                  <a:cubicBezTo>
                    <a:pt x="6751834" y="0"/>
                    <a:pt x="6832591" y="33451"/>
                    <a:pt x="6892134" y="92994"/>
                  </a:cubicBezTo>
                  <a:cubicBezTo>
                    <a:pt x="6951676" y="152536"/>
                    <a:pt x="6985127" y="233294"/>
                    <a:pt x="6985127" y="317500"/>
                  </a:cubicBezTo>
                  <a:lnTo>
                    <a:pt x="6985127" y="6616700"/>
                  </a:lnTo>
                  <a:cubicBezTo>
                    <a:pt x="6985127" y="6792051"/>
                    <a:pt x="6842978" y="6934200"/>
                    <a:pt x="6667627" y="6934200"/>
                  </a:cubicBezTo>
                  <a:lnTo>
                    <a:pt x="317500" y="6934200"/>
                  </a:lnTo>
                  <a:cubicBezTo>
                    <a:pt x="142150" y="6934200"/>
                    <a:pt x="0" y="6792051"/>
                    <a:pt x="0" y="6616700"/>
                  </a:cubicBezTo>
                  <a:lnTo>
                    <a:pt x="0" y="317500"/>
                  </a:lnTo>
                  <a:cubicBezTo>
                    <a:pt x="0" y="142150"/>
                    <a:pt x="142150" y="0"/>
                    <a:pt x="317500" y="0"/>
                  </a:cubicBezTo>
                  <a:close/>
                </a:path>
              </a:pathLst>
            </a:custGeom>
            <a:solidFill>
              <a:srgbClr val="19347E"/>
            </a:solidFill>
          </p:spPr>
        </p:sp>
      </p:grpSp>
      <p:sp>
        <p:nvSpPr>
          <p:cNvPr name="TextBox 11" id="11"/>
          <p:cNvSpPr txBox="true"/>
          <p:nvPr/>
        </p:nvSpPr>
        <p:spPr>
          <a:xfrm rot="0">
            <a:off x="1150144" y="4269581"/>
            <a:ext cx="3223320" cy="495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79"/>
              </a:lnSpc>
            </a:pPr>
            <a:r>
              <a:rPr lang="en-US" b="true" sz="3150">
                <a:solidFill>
                  <a:srgbClr val="FFBD59"/>
                </a:solidFill>
                <a:latin typeface="Arimo Bold"/>
                <a:ea typeface="Arimo Bold"/>
                <a:cs typeface="Arimo Bold"/>
                <a:sym typeface="Arimo Bold"/>
              </a:rPr>
              <a:t>Customer Profile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150144" y="4852988"/>
            <a:ext cx="4653039" cy="33108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79"/>
              </a:lnSpc>
            </a:pPr>
            <a:r>
              <a:rPr lang="en-US" sz="2250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Enables users to browse category-specific products, manage an in-memory shopping cart (with live quantity editing), and place orders. Note: Cart state is stack-allocated and resets when exiting customer mode 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6964042" y="4305300"/>
            <a:ext cx="3978871" cy="495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79"/>
              </a:lnSpc>
            </a:pPr>
            <a:r>
              <a:rPr lang="en-US" b="true" sz="3150">
                <a:solidFill>
                  <a:srgbClr val="FAD021"/>
                </a:solidFill>
                <a:latin typeface="Arimo Bold"/>
                <a:ea typeface="Arimo Bold"/>
                <a:cs typeface="Arimo Bold"/>
                <a:sym typeface="Arimo Bold"/>
              </a:rPr>
              <a:t>Administrator Profile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6964042" y="4886325"/>
            <a:ext cx="4067099" cy="23998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79"/>
              </a:lnSpc>
            </a:pPr>
            <a:r>
              <a:rPr lang="en-US" sz="2250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A secure portal to manage automated scheduling, view real-time revenue analytics, handle order cancellations, and export daily audit reports.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2630302" y="4305300"/>
            <a:ext cx="4270496" cy="5037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79"/>
              </a:lnSpc>
            </a:pPr>
            <a:r>
              <a:rPr lang="en-US" b="true" sz="3150">
                <a:solidFill>
                  <a:srgbClr val="FAD021"/>
                </a:solidFill>
                <a:latin typeface="Arimo Bold"/>
                <a:ea typeface="Arimo Bold"/>
                <a:cs typeface="Arimo Bold"/>
                <a:sym typeface="Arimo Bold"/>
              </a:rPr>
              <a:t>Data Engine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2630302" y="4876800"/>
            <a:ext cx="4067099" cy="2358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79"/>
              </a:lnSpc>
            </a:pPr>
            <a:r>
              <a:rPr lang="en-US" sz="2250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Hybrid storage model using a flat, statically-allocated array for the product catalogue (max 100 items) and dynamic intrusive linked lists for live order queues</a:t>
            </a:r>
          </a:p>
        </p:txBody>
      </p:sp>
      <p:grpSp>
        <p:nvGrpSpPr>
          <p:cNvPr name="Group 17" id="17"/>
          <p:cNvGrpSpPr/>
          <p:nvPr/>
        </p:nvGrpSpPr>
        <p:grpSpPr>
          <a:xfrm rot="0">
            <a:off x="1150144" y="3514725"/>
            <a:ext cx="714375" cy="571500"/>
            <a:chOff x="0" y="0"/>
            <a:chExt cx="952500" cy="762000"/>
          </a:xfrm>
        </p:grpSpPr>
        <p:sp>
          <p:nvSpPr>
            <p:cNvPr name="Freeform 18" id="18" descr="image.png"/>
            <p:cNvSpPr/>
            <p:nvPr/>
          </p:nvSpPr>
          <p:spPr>
            <a:xfrm flipH="false" flipV="false" rot="0">
              <a:off x="0" y="0"/>
              <a:ext cx="952500" cy="762000"/>
            </a:xfrm>
            <a:custGeom>
              <a:avLst/>
              <a:gdLst/>
              <a:ahLst/>
              <a:cxnLst/>
              <a:rect r="r" b="b" t="t" l="l"/>
              <a:pathLst>
                <a:path h="762000" w="952500">
                  <a:moveTo>
                    <a:pt x="0" y="0"/>
                  </a:moveTo>
                  <a:lnTo>
                    <a:pt x="952500" y="0"/>
                  </a:lnTo>
                  <a:lnTo>
                    <a:pt x="952500" y="762000"/>
                  </a:lnTo>
                  <a:lnTo>
                    <a:pt x="0" y="762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19" id="19"/>
          <p:cNvGrpSpPr/>
          <p:nvPr/>
        </p:nvGrpSpPr>
        <p:grpSpPr>
          <a:xfrm rot="0">
            <a:off x="6964042" y="3514725"/>
            <a:ext cx="714375" cy="571500"/>
            <a:chOff x="0" y="0"/>
            <a:chExt cx="952500" cy="762000"/>
          </a:xfrm>
        </p:grpSpPr>
        <p:sp>
          <p:nvSpPr>
            <p:cNvPr name="Freeform 20" id="20" descr="image.png"/>
            <p:cNvSpPr/>
            <p:nvPr/>
          </p:nvSpPr>
          <p:spPr>
            <a:xfrm flipH="false" flipV="false" rot="0">
              <a:off x="0" y="0"/>
              <a:ext cx="952500" cy="762000"/>
            </a:xfrm>
            <a:custGeom>
              <a:avLst/>
              <a:gdLst/>
              <a:ahLst/>
              <a:cxnLst/>
              <a:rect r="r" b="b" t="t" l="l"/>
              <a:pathLst>
                <a:path h="762000" w="952500">
                  <a:moveTo>
                    <a:pt x="0" y="0"/>
                  </a:moveTo>
                  <a:lnTo>
                    <a:pt x="952500" y="0"/>
                  </a:lnTo>
                  <a:lnTo>
                    <a:pt x="952500" y="762000"/>
                  </a:lnTo>
                  <a:lnTo>
                    <a:pt x="0" y="762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-2000" b="0"/>
              </a:stretch>
            </a:blipFill>
          </p:spPr>
        </p:sp>
      </p:grpSp>
      <p:grpSp>
        <p:nvGrpSpPr>
          <p:cNvPr name="Group 21" id="21"/>
          <p:cNvGrpSpPr/>
          <p:nvPr/>
        </p:nvGrpSpPr>
        <p:grpSpPr>
          <a:xfrm rot="0">
            <a:off x="12630302" y="3514725"/>
            <a:ext cx="571500" cy="571500"/>
            <a:chOff x="0" y="0"/>
            <a:chExt cx="762000" cy="762000"/>
          </a:xfrm>
        </p:grpSpPr>
        <p:sp>
          <p:nvSpPr>
            <p:cNvPr name="Freeform 22" id="22" descr="image.png"/>
            <p:cNvSpPr/>
            <p:nvPr/>
          </p:nvSpPr>
          <p:spPr>
            <a:xfrm flipH="false" flipV="false" rot="0">
              <a:off x="0" y="0"/>
              <a:ext cx="762000" cy="762000"/>
            </a:xfrm>
            <a:custGeom>
              <a:avLst/>
              <a:gdLst/>
              <a:ahLst/>
              <a:cxnLst/>
              <a:rect r="r" b="b" t="t" l="l"/>
              <a:pathLst>
                <a:path h="762000" w="762000">
                  <a:moveTo>
                    <a:pt x="0" y="0"/>
                  </a:moveTo>
                  <a:lnTo>
                    <a:pt x="762000" y="0"/>
                  </a:lnTo>
                  <a:lnTo>
                    <a:pt x="762000" y="762000"/>
                  </a:lnTo>
                  <a:lnTo>
                    <a:pt x="0" y="762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-2500" b="0"/>
              </a:stretch>
            </a:blipFill>
          </p:spPr>
        </p:sp>
      </p:grp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838325"/>
            <a:chOff x="0" y="0"/>
            <a:chExt cx="24384000" cy="24511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2451100"/>
            </a:xfrm>
            <a:custGeom>
              <a:avLst/>
              <a:gdLst/>
              <a:ahLst/>
              <a:cxnLst/>
              <a:rect r="r" b="b" t="t" l="l"/>
              <a:pathLst>
                <a:path h="24511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2451100"/>
                  </a:lnTo>
                  <a:lnTo>
                    <a:pt x="0" y="24511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1028700" y="3655998"/>
            <a:ext cx="7858125" cy="5257800"/>
            <a:chOff x="0" y="0"/>
            <a:chExt cx="10477500" cy="7010400"/>
          </a:xfrm>
        </p:grpSpPr>
        <p:sp>
          <p:nvSpPr>
            <p:cNvPr name="Freeform 5" id="5" descr="image.png"/>
            <p:cNvSpPr/>
            <p:nvPr/>
          </p:nvSpPr>
          <p:spPr>
            <a:xfrm flipH="false" flipV="false" rot="0">
              <a:off x="0" y="0"/>
              <a:ext cx="10477500" cy="7010400"/>
            </a:xfrm>
            <a:custGeom>
              <a:avLst/>
              <a:gdLst/>
              <a:ahLst/>
              <a:cxnLst/>
              <a:rect r="r" b="b" t="t" l="l"/>
              <a:pathLst>
                <a:path h="7010400" w="10477500">
                  <a:moveTo>
                    <a:pt x="317500" y="0"/>
                  </a:moveTo>
                  <a:lnTo>
                    <a:pt x="10160000" y="0"/>
                  </a:lnTo>
                  <a:cubicBezTo>
                    <a:pt x="10335351" y="0"/>
                    <a:pt x="10477500" y="142150"/>
                    <a:pt x="10477500" y="317500"/>
                  </a:cubicBezTo>
                  <a:lnTo>
                    <a:pt x="10477500" y="6692900"/>
                  </a:lnTo>
                  <a:cubicBezTo>
                    <a:pt x="10477500" y="6868251"/>
                    <a:pt x="10335351" y="7010400"/>
                    <a:pt x="10160000" y="7010400"/>
                  </a:cubicBezTo>
                  <a:lnTo>
                    <a:pt x="317500" y="7010400"/>
                  </a:lnTo>
                  <a:cubicBezTo>
                    <a:pt x="142150" y="7010400"/>
                    <a:pt x="0" y="6868251"/>
                    <a:pt x="0" y="6692900"/>
                  </a:cubicBezTo>
                  <a:lnTo>
                    <a:pt x="0" y="317500"/>
                  </a:lnTo>
                  <a:cubicBezTo>
                    <a:pt x="0" y="142150"/>
                    <a:pt x="142150" y="0"/>
                    <a:pt x="317500" y="0"/>
                  </a:cubicBezTo>
                  <a:close/>
                </a:path>
              </a:pathLst>
            </a:custGeom>
            <a:solidFill>
              <a:srgbClr val="19347E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9401175" y="3655998"/>
            <a:ext cx="7858125" cy="5257800"/>
            <a:chOff x="0" y="0"/>
            <a:chExt cx="10477500" cy="7010400"/>
          </a:xfrm>
        </p:grpSpPr>
        <p:sp>
          <p:nvSpPr>
            <p:cNvPr name="Freeform 7" id="7" descr="image.png"/>
            <p:cNvSpPr/>
            <p:nvPr/>
          </p:nvSpPr>
          <p:spPr>
            <a:xfrm flipH="false" flipV="false" rot="0">
              <a:off x="0" y="0"/>
              <a:ext cx="10477500" cy="7010400"/>
            </a:xfrm>
            <a:custGeom>
              <a:avLst/>
              <a:gdLst/>
              <a:ahLst/>
              <a:cxnLst/>
              <a:rect r="r" b="b" t="t" l="l"/>
              <a:pathLst>
                <a:path h="7010400" w="10477500">
                  <a:moveTo>
                    <a:pt x="317500" y="0"/>
                  </a:moveTo>
                  <a:lnTo>
                    <a:pt x="10160000" y="0"/>
                  </a:lnTo>
                  <a:cubicBezTo>
                    <a:pt x="10335351" y="0"/>
                    <a:pt x="10477500" y="142150"/>
                    <a:pt x="10477500" y="317500"/>
                  </a:cubicBezTo>
                  <a:lnTo>
                    <a:pt x="10477500" y="6692900"/>
                  </a:lnTo>
                  <a:cubicBezTo>
                    <a:pt x="10477500" y="6868251"/>
                    <a:pt x="10335351" y="7010400"/>
                    <a:pt x="10160000" y="7010400"/>
                  </a:cubicBezTo>
                  <a:lnTo>
                    <a:pt x="317500" y="7010400"/>
                  </a:lnTo>
                  <a:cubicBezTo>
                    <a:pt x="142150" y="7010400"/>
                    <a:pt x="0" y="6868251"/>
                    <a:pt x="0" y="6692900"/>
                  </a:cubicBezTo>
                  <a:lnTo>
                    <a:pt x="0" y="317500"/>
                  </a:lnTo>
                  <a:cubicBezTo>
                    <a:pt x="0" y="142150"/>
                    <a:pt x="142150" y="0"/>
                    <a:pt x="317500" y="0"/>
                  </a:cubicBezTo>
                  <a:close/>
                </a:path>
              </a:pathLst>
            </a:custGeom>
            <a:solidFill>
              <a:srgbClr val="19347E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3736159" y="6776388"/>
            <a:ext cx="4564878" cy="2627267"/>
            <a:chOff x="0" y="0"/>
            <a:chExt cx="1325781" cy="763039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325781" cy="763039"/>
            </a:xfrm>
            <a:custGeom>
              <a:avLst/>
              <a:gdLst/>
              <a:ahLst/>
              <a:cxnLst/>
              <a:rect r="r" b="b" t="t" l="l"/>
              <a:pathLst>
                <a:path h="763039" w="1325781">
                  <a:moveTo>
                    <a:pt x="39007" y="0"/>
                  </a:moveTo>
                  <a:lnTo>
                    <a:pt x="1286773" y="0"/>
                  </a:lnTo>
                  <a:cubicBezTo>
                    <a:pt x="1297119" y="0"/>
                    <a:pt x="1307040" y="4110"/>
                    <a:pt x="1314356" y="11425"/>
                  </a:cubicBezTo>
                  <a:cubicBezTo>
                    <a:pt x="1321671" y="18740"/>
                    <a:pt x="1325781" y="28662"/>
                    <a:pt x="1325781" y="39007"/>
                  </a:cubicBezTo>
                  <a:lnTo>
                    <a:pt x="1325781" y="724031"/>
                  </a:lnTo>
                  <a:cubicBezTo>
                    <a:pt x="1325781" y="734377"/>
                    <a:pt x="1321671" y="744299"/>
                    <a:pt x="1314356" y="751614"/>
                  </a:cubicBezTo>
                  <a:cubicBezTo>
                    <a:pt x="1307040" y="758929"/>
                    <a:pt x="1297119" y="763039"/>
                    <a:pt x="1286773" y="763039"/>
                  </a:cubicBezTo>
                  <a:lnTo>
                    <a:pt x="39007" y="763039"/>
                  </a:lnTo>
                  <a:cubicBezTo>
                    <a:pt x="28662" y="763039"/>
                    <a:pt x="18740" y="758929"/>
                    <a:pt x="11425" y="751614"/>
                  </a:cubicBezTo>
                  <a:cubicBezTo>
                    <a:pt x="4110" y="744299"/>
                    <a:pt x="0" y="734377"/>
                    <a:pt x="0" y="724031"/>
                  </a:cubicBezTo>
                  <a:lnTo>
                    <a:pt x="0" y="39007"/>
                  </a:lnTo>
                  <a:cubicBezTo>
                    <a:pt x="0" y="28662"/>
                    <a:pt x="4110" y="18740"/>
                    <a:pt x="11425" y="11425"/>
                  </a:cubicBezTo>
                  <a:cubicBezTo>
                    <a:pt x="18740" y="4110"/>
                    <a:pt x="28662" y="0"/>
                    <a:pt x="39007" y="0"/>
                  </a:cubicBezTo>
                  <a:close/>
                </a:path>
              </a:pathLst>
            </a:custGeom>
            <a:blipFill>
              <a:blip r:embed="rId3"/>
              <a:stretch>
                <a:fillRect l="0" t="-2285" r="0" b="-2285"/>
              </a:stretch>
            </a:blipFill>
            <a:ln w="19050" cap="rnd">
              <a:solidFill>
                <a:srgbClr val="000000"/>
              </a:solidFill>
              <a:prstDash val="lgDash"/>
              <a:round/>
            </a:ln>
          </p:spPr>
        </p:sp>
      </p:grpSp>
      <p:grpSp>
        <p:nvGrpSpPr>
          <p:cNvPr name="Group 10" id="10"/>
          <p:cNvGrpSpPr/>
          <p:nvPr/>
        </p:nvGrpSpPr>
        <p:grpSpPr>
          <a:xfrm rot="0">
            <a:off x="10863411" y="6776388"/>
            <a:ext cx="5772002" cy="2627267"/>
            <a:chOff x="0" y="0"/>
            <a:chExt cx="1785690" cy="8128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785689" cy="812800"/>
            </a:xfrm>
            <a:custGeom>
              <a:avLst/>
              <a:gdLst/>
              <a:ahLst/>
              <a:cxnLst/>
              <a:rect r="r" b="b" t="t" l="l"/>
              <a:pathLst>
                <a:path h="812800" w="1785689">
                  <a:moveTo>
                    <a:pt x="30850" y="0"/>
                  </a:moveTo>
                  <a:lnTo>
                    <a:pt x="1754840" y="0"/>
                  </a:lnTo>
                  <a:cubicBezTo>
                    <a:pt x="1771878" y="0"/>
                    <a:pt x="1785689" y="13812"/>
                    <a:pt x="1785689" y="30850"/>
                  </a:cubicBezTo>
                  <a:lnTo>
                    <a:pt x="1785689" y="781950"/>
                  </a:lnTo>
                  <a:cubicBezTo>
                    <a:pt x="1785689" y="798988"/>
                    <a:pt x="1771878" y="812800"/>
                    <a:pt x="1754840" y="812800"/>
                  </a:cubicBezTo>
                  <a:lnTo>
                    <a:pt x="30850" y="812800"/>
                  </a:lnTo>
                  <a:cubicBezTo>
                    <a:pt x="13812" y="812800"/>
                    <a:pt x="0" y="798988"/>
                    <a:pt x="0" y="781950"/>
                  </a:cubicBezTo>
                  <a:lnTo>
                    <a:pt x="0" y="30850"/>
                  </a:lnTo>
                  <a:cubicBezTo>
                    <a:pt x="0" y="13812"/>
                    <a:pt x="13812" y="0"/>
                    <a:pt x="30850" y="0"/>
                  </a:cubicBezTo>
                  <a:close/>
                </a:path>
              </a:pathLst>
            </a:custGeom>
            <a:blipFill>
              <a:blip r:embed="rId4"/>
              <a:stretch>
                <a:fillRect l="-640" t="0" r="-640" b="0"/>
              </a:stretch>
            </a:blipFill>
            <a:ln w="19050" cap="rnd">
              <a:solidFill>
                <a:srgbClr val="000000"/>
              </a:solidFill>
              <a:prstDash val="lgDash"/>
              <a:round/>
            </a:ln>
          </p:spPr>
        </p:sp>
      </p:grpSp>
      <p:sp>
        <p:nvSpPr>
          <p:cNvPr name="TextBox 12" id="12"/>
          <p:cNvSpPr txBox="true"/>
          <p:nvPr/>
        </p:nvSpPr>
        <p:spPr>
          <a:xfrm rot="0">
            <a:off x="16602837" y="9650197"/>
            <a:ext cx="366751" cy="3248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31"/>
              </a:lnSpc>
            </a:pPr>
            <a:r>
              <a:rPr lang="en-US" sz="1800">
                <a:solidFill>
                  <a:srgbClr val="888888"/>
                </a:solidFill>
                <a:latin typeface="Calibri (MS)"/>
                <a:ea typeface="Calibri (MS)"/>
                <a:cs typeface="Calibri (MS)"/>
                <a:sym typeface="Calibri (MS)"/>
              </a:rPr>
              <a:t>‹#›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3794027" y="2365998"/>
            <a:ext cx="10699947" cy="8327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759"/>
              </a:lnSpc>
            </a:pPr>
            <a:r>
              <a:rPr lang="en-US" sz="48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Data structures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614487" y="3989373"/>
            <a:ext cx="7020878" cy="504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79"/>
              </a:lnSpc>
            </a:pPr>
            <a:r>
              <a:rPr lang="en-US" b="true" sz="3150">
                <a:solidFill>
                  <a:srgbClr val="FAD021"/>
                </a:solidFill>
                <a:latin typeface="Arimo Bold"/>
                <a:ea typeface="Arimo Bold"/>
                <a:cs typeface="Arimo Bold"/>
                <a:sym typeface="Arimo Bold"/>
              </a:rPr>
              <a:t>struct Product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614488" y="4665648"/>
            <a:ext cx="6686550" cy="1314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79"/>
              </a:lnSpc>
            </a:pPr>
            <a:r>
              <a:rPr lang="en-US" sz="2250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Fixed-size array for O(1) access. Stores critical catalog metadata including pricing, categorization, and quantity-based availability.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9986962" y="3932223"/>
            <a:ext cx="7020878" cy="504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79"/>
              </a:lnSpc>
            </a:pPr>
            <a:r>
              <a:rPr lang="en-US" b="true" sz="3150">
                <a:solidFill>
                  <a:srgbClr val="FAD021"/>
                </a:solidFill>
                <a:latin typeface="Arimo Bold"/>
                <a:ea typeface="Arimo Bold"/>
                <a:cs typeface="Arimo Bold"/>
                <a:sym typeface="Arimo Bold"/>
              </a:rPr>
              <a:t>struct Order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9986962" y="4608498"/>
            <a:ext cx="6686550" cy="18821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79"/>
              </a:lnSpc>
            </a:pPr>
            <a:r>
              <a:rPr lang="en-US" sz="2250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Dynamic linked list nodes that form the backbone of the FIFO delivery queues. Captures a complete snapshot of the customer's cart. Two separate queues: one for priority 1, one for priority 2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838325"/>
            <a:chOff x="0" y="0"/>
            <a:chExt cx="24384000" cy="24511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2451100"/>
            </a:xfrm>
            <a:custGeom>
              <a:avLst/>
              <a:gdLst/>
              <a:ahLst/>
              <a:cxnLst/>
              <a:rect r="r" b="b" t="t" l="l"/>
              <a:pathLst>
                <a:path h="24511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2451100"/>
                  </a:lnTo>
                  <a:lnTo>
                    <a:pt x="0" y="24511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1181100" y="3216590"/>
            <a:ext cx="6457044" cy="3146342"/>
            <a:chOff x="0" y="0"/>
            <a:chExt cx="10477500" cy="5105400"/>
          </a:xfrm>
        </p:grpSpPr>
        <p:sp>
          <p:nvSpPr>
            <p:cNvPr name="Freeform 5" id="5" descr="image.png"/>
            <p:cNvSpPr/>
            <p:nvPr/>
          </p:nvSpPr>
          <p:spPr>
            <a:xfrm flipH="false" flipV="false" rot="0">
              <a:off x="0" y="0"/>
              <a:ext cx="10477500" cy="5105400"/>
            </a:xfrm>
            <a:custGeom>
              <a:avLst/>
              <a:gdLst/>
              <a:ahLst/>
              <a:cxnLst/>
              <a:rect r="r" b="b" t="t" l="l"/>
              <a:pathLst>
                <a:path h="5105400" w="10477500">
                  <a:moveTo>
                    <a:pt x="386393" y="0"/>
                  </a:moveTo>
                  <a:lnTo>
                    <a:pt x="10091107" y="0"/>
                  </a:lnTo>
                  <a:cubicBezTo>
                    <a:pt x="10304506" y="0"/>
                    <a:pt x="10477500" y="172994"/>
                    <a:pt x="10477500" y="386393"/>
                  </a:cubicBezTo>
                  <a:lnTo>
                    <a:pt x="10477500" y="4719007"/>
                  </a:lnTo>
                  <a:cubicBezTo>
                    <a:pt x="10477500" y="4932406"/>
                    <a:pt x="10304506" y="5105400"/>
                    <a:pt x="10091107" y="5105400"/>
                  </a:cubicBezTo>
                  <a:lnTo>
                    <a:pt x="386393" y="5105400"/>
                  </a:lnTo>
                  <a:cubicBezTo>
                    <a:pt x="172994" y="5105400"/>
                    <a:pt x="0" y="4932406"/>
                    <a:pt x="0" y="4719007"/>
                  </a:cubicBezTo>
                  <a:lnTo>
                    <a:pt x="0" y="386393"/>
                  </a:lnTo>
                  <a:cubicBezTo>
                    <a:pt x="0" y="172994"/>
                    <a:pt x="172994" y="0"/>
                    <a:pt x="386393" y="0"/>
                  </a:cubicBezTo>
                  <a:close/>
                </a:path>
              </a:pathLst>
            </a:custGeom>
            <a:solidFill>
              <a:srgbClr val="19347E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1181100" y="6597733"/>
            <a:ext cx="6457044" cy="3146342"/>
            <a:chOff x="0" y="0"/>
            <a:chExt cx="10477500" cy="5105400"/>
          </a:xfrm>
        </p:grpSpPr>
        <p:sp>
          <p:nvSpPr>
            <p:cNvPr name="Freeform 7" id="7" descr="image.png"/>
            <p:cNvSpPr/>
            <p:nvPr/>
          </p:nvSpPr>
          <p:spPr>
            <a:xfrm flipH="false" flipV="false" rot="0">
              <a:off x="0" y="0"/>
              <a:ext cx="10477500" cy="5105400"/>
            </a:xfrm>
            <a:custGeom>
              <a:avLst/>
              <a:gdLst/>
              <a:ahLst/>
              <a:cxnLst/>
              <a:rect r="r" b="b" t="t" l="l"/>
              <a:pathLst>
                <a:path h="5105400" w="10477500">
                  <a:moveTo>
                    <a:pt x="386393" y="0"/>
                  </a:moveTo>
                  <a:lnTo>
                    <a:pt x="10091107" y="0"/>
                  </a:lnTo>
                  <a:cubicBezTo>
                    <a:pt x="10304506" y="0"/>
                    <a:pt x="10477500" y="172994"/>
                    <a:pt x="10477500" y="386393"/>
                  </a:cubicBezTo>
                  <a:lnTo>
                    <a:pt x="10477500" y="4719007"/>
                  </a:lnTo>
                  <a:cubicBezTo>
                    <a:pt x="10477500" y="4932406"/>
                    <a:pt x="10304506" y="5105400"/>
                    <a:pt x="10091107" y="5105400"/>
                  </a:cubicBezTo>
                  <a:lnTo>
                    <a:pt x="386393" y="5105400"/>
                  </a:lnTo>
                  <a:cubicBezTo>
                    <a:pt x="172994" y="5105400"/>
                    <a:pt x="0" y="4932406"/>
                    <a:pt x="0" y="4719007"/>
                  </a:cubicBezTo>
                  <a:lnTo>
                    <a:pt x="0" y="386393"/>
                  </a:lnTo>
                  <a:cubicBezTo>
                    <a:pt x="0" y="172994"/>
                    <a:pt x="172994" y="0"/>
                    <a:pt x="386393" y="0"/>
                  </a:cubicBezTo>
                  <a:close/>
                </a:path>
              </a:pathLst>
            </a:custGeom>
            <a:solidFill>
              <a:srgbClr val="19347E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1181100" y="2183463"/>
            <a:ext cx="58700" cy="680925"/>
            <a:chOff x="0" y="0"/>
            <a:chExt cx="95250" cy="11049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95250" cy="1104900"/>
            </a:xfrm>
            <a:custGeom>
              <a:avLst/>
              <a:gdLst/>
              <a:ahLst/>
              <a:cxnLst/>
              <a:rect r="r" b="b" t="t" l="l"/>
              <a:pathLst>
                <a:path h="1104900" w="95250">
                  <a:moveTo>
                    <a:pt x="0" y="0"/>
                  </a:moveTo>
                  <a:lnTo>
                    <a:pt x="95250" y="0"/>
                  </a:lnTo>
                  <a:lnTo>
                    <a:pt x="95250" y="1104900"/>
                  </a:lnTo>
                  <a:lnTo>
                    <a:pt x="0" y="1104900"/>
                  </a:lnTo>
                  <a:close/>
                </a:path>
              </a:pathLst>
            </a:custGeom>
            <a:solidFill>
              <a:srgbClr val="19347E"/>
            </a:solidFill>
          </p:spPr>
        </p:sp>
      </p:grpSp>
      <p:sp>
        <p:nvSpPr>
          <p:cNvPr name="Freeform 10" id="10"/>
          <p:cNvSpPr/>
          <p:nvPr/>
        </p:nvSpPr>
        <p:spPr>
          <a:xfrm flipH="false" flipV="false" rot="0">
            <a:off x="9079478" y="1762125"/>
            <a:ext cx="5267312" cy="8553450"/>
          </a:xfrm>
          <a:custGeom>
            <a:avLst/>
            <a:gdLst/>
            <a:ahLst/>
            <a:cxnLst/>
            <a:rect r="r" b="b" t="t" l="l"/>
            <a:pathLst>
              <a:path h="8553450" w="5267312">
                <a:moveTo>
                  <a:pt x="0" y="0"/>
                </a:moveTo>
                <a:lnTo>
                  <a:pt x="5267312" y="0"/>
                </a:lnTo>
                <a:lnTo>
                  <a:pt x="5267312" y="8553450"/>
                </a:lnTo>
                <a:lnTo>
                  <a:pt x="0" y="855345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13949367" y="1762125"/>
            <a:ext cx="4338633" cy="9298883"/>
          </a:xfrm>
          <a:custGeom>
            <a:avLst/>
            <a:gdLst/>
            <a:ahLst/>
            <a:cxnLst/>
            <a:rect r="r" b="b" t="t" l="l"/>
            <a:pathLst>
              <a:path h="9298883" w="4338633">
                <a:moveTo>
                  <a:pt x="0" y="0"/>
                </a:moveTo>
                <a:lnTo>
                  <a:pt x="4338633" y="0"/>
                </a:lnTo>
                <a:lnTo>
                  <a:pt x="4338633" y="9298883"/>
                </a:lnTo>
                <a:lnTo>
                  <a:pt x="0" y="929888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16602837" y="9650197"/>
            <a:ext cx="366751" cy="3248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31"/>
              </a:lnSpc>
            </a:pPr>
            <a:r>
              <a:rPr lang="en-US" sz="1800">
                <a:solidFill>
                  <a:srgbClr val="888888"/>
                </a:solidFill>
                <a:latin typeface="Calibri (MS)"/>
                <a:ea typeface="Calibri (MS)"/>
                <a:cs typeface="Calibri (MS)"/>
                <a:sym typeface="Calibri (MS)"/>
              </a:rPr>
              <a:t>‹#›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662443" y="3678884"/>
            <a:ext cx="5769076" cy="4182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06"/>
              </a:lnSpc>
            </a:pPr>
            <a:r>
              <a:rPr lang="en-US" b="true" sz="2588">
                <a:solidFill>
                  <a:srgbClr val="FAD021"/>
                </a:solidFill>
                <a:latin typeface="Arimo Bold"/>
                <a:ea typeface="Arimo Bold"/>
                <a:cs typeface="Arimo Bold"/>
                <a:sym typeface="Arimo Bold"/>
              </a:rPr>
              <a:t>Single-Point Load/Save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662443" y="4217598"/>
            <a:ext cx="5494358" cy="14291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06"/>
              </a:lnSpc>
            </a:pPr>
            <a:r>
              <a:rPr lang="en-US" sz="1848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To ensure high performance, products.csv is read once at startup into memory. All updates occur in RAM and are flushed back to disk upon program exit.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662443" y="6983827"/>
            <a:ext cx="5769076" cy="4182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06"/>
              </a:lnSpc>
            </a:pPr>
            <a:r>
              <a:rPr lang="en-US" b="true" sz="2588">
                <a:solidFill>
                  <a:srgbClr val="FAD021"/>
                </a:solidFill>
                <a:latin typeface="Arimo Bold"/>
                <a:ea typeface="Arimo Bold"/>
                <a:cs typeface="Arimo Bold"/>
                <a:sym typeface="Arimo Bold"/>
              </a:rPr>
              <a:t>Incremental Auditing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662443" y="7487764"/>
            <a:ext cx="5494358" cy="1958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06"/>
              </a:lnSpc>
            </a:pPr>
            <a:r>
              <a:rPr lang="en-US" sz="1848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Administrative actions are appended immediately to logs/admin_log.txt. Successful deliveries are appended directly to the daily history file (history/DD-MM-YYYY.txt), ensuring zero loss of operational logs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474602" y="2164413"/>
            <a:ext cx="6953552" cy="6921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324"/>
              </a:lnSpc>
            </a:pPr>
            <a:r>
              <a:rPr lang="en-US" b="true" sz="4437">
                <a:solidFill>
                  <a:srgbClr val="FAD021"/>
                </a:solidFill>
                <a:latin typeface="Arimo Bold"/>
                <a:ea typeface="Arimo Bold"/>
                <a:cs typeface="Arimo Bold"/>
                <a:sym typeface="Arimo Bold"/>
              </a:rPr>
              <a:t>Data Persistence Strategy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838325"/>
            <a:chOff x="0" y="0"/>
            <a:chExt cx="24384000" cy="24511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2451100"/>
            </a:xfrm>
            <a:custGeom>
              <a:avLst/>
              <a:gdLst/>
              <a:ahLst/>
              <a:cxnLst/>
              <a:rect r="r" b="b" t="t" l="l"/>
              <a:pathLst>
                <a:path h="24511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2451100"/>
                  </a:lnTo>
                  <a:lnTo>
                    <a:pt x="0" y="24511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sp>
        <p:nvSpPr>
          <p:cNvPr name="TextBox 4" id="4"/>
          <p:cNvSpPr txBox="true"/>
          <p:nvPr/>
        </p:nvSpPr>
        <p:spPr>
          <a:xfrm rot="0">
            <a:off x="16602837" y="9650197"/>
            <a:ext cx="366751" cy="3248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31"/>
              </a:lnSpc>
            </a:pPr>
            <a:r>
              <a:rPr lang="en-US" sz="1800">
                <a:solidFill>
                  <a:srgbClr val="888888"/>
                </a:solidFill>
                <a:latin typeface="Calibri (MS)"/>
                <a:ea typeface="Calibri (MS)"/>
                <a:cs typeface="Calibri (MS)"/>
                <a:sym typeface="Calibri (MS)"/>
              </a:rPr>
              <a:t>‹#›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214438" y="2743200"/>
            <a:ext cx="7425928" cy="857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480"/>
              </a:lnSpc>
            </a:pPr>
            <a:r>
              <a:rPr lang="en-US" b="true" sz="5400">
                <a:solidFill>
                  <a:srgbClr val="FAD021"/>
                </a:solidFill>
                <a:latin typeface="Arimo Bold"/>
                <a:ea typeface="Arimo Bold"/>
                <a:cs typeface="Arimo Bold"/>
                <a:sym typeface="Arimo Bold"/>
              </a:rPr>
              <a:t>Priority Queue Logic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857250" y="2771775"/>
            <a:ext cx="71438" cy="828675"/>
            <a:chOff x="0" y="0"/>
            <a:chExt cx="95250" cy="11049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95250" cy="1104900"/>
            </a:xfrm>
            <a:custGeom>
              <a:avLst/>
              <a:gdLst/>
              <a:ahLst/>
              <a:cxnLst/>
              <a:rect r="r" b="b" t="t" l="l"/>
              <a:pathLst>
                <a:path h="1104900" w="95250">
                  <a:moveTo>
                    <a:pt x="0" y="0"/>
                  </a:moveTo>
                  <a:lnTo>
                    <a:pt x="95250" y="0"/>
                  </a:lnTo>
                  <a:lnTo>
                    <a:pt x="95250" y="1104900"/>
                  </a:lnTo>
                  <a:lnTo>
                    <a:pt x="0" y="1104900"/>
                  </a:lnTo>
                  <a:close/>
                </a:path>
              </a:pathLst>
            </a:custGeom>
            <a:solidFill>
              <a:srgbClr val="19347E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857250" y="3941804"/>
            <a:ext cx="8039489" cy="3979556"/>
            <a:chOff x="0" y="0"/>
            <a:chExt cx="13045249" cy="6457413"/>
          </a:xfrm>
        </p:grpSpPr>
        <p:sp>
          <p:nvSpPr>
            <p:cNvPr name="Freeform 9" id="9" descr="image.png"/>
            <p:cNvSpPr/>
            <p:nvPr/>
          </p:nvSpPr>
          <p:spPr>
            <a:xfrm flipH="false" flipV="false" rot="0">
              <a:off x="0" y="0"/>
              <a:ext cx="13045249" cy="6457413"/>
            </a:xfrm>
            <a:custGeom>
              <a:avLst/>
              <a:gdLst/>
              <a:ahLst/>
              <a:cxnLst/>
              <a:rect r="r" b="b" t="t" l="l"/>
              <a:pathLst>
                <a:path h="6457413" w="13045249">
                  <a:moveTo>
                    <a:pt x="0" y="0"/>
                  </a:moveTo>
                  <a:lnTo>
                    <a:pt x="13045249" y="0"/>
                  </a:lnTo>
                  <a:lnTo>
                    <a:pt x="13045249" y="6457413"/>
                  </a:lnTo>
                  <a:lnTo>
                    <a:pt x="0" y="645741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347E"/>
            </a:solid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1214438" y="4200525"/>
            <a:ext cx="7429500" cy="1314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79"/>
              </a:lnSpc>
            </a:pPr>
            <a:r>
              <a:rPr lang="en-US" sz="2250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Our system implements two distinct FIFO (First-In, First-Out) linked lists to separate urgent requirements from standard orders.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214438" y="5972175"/>
            <a:ext cx="7429500" cy="1314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79"/>
              </a:lnSpc>
            </a:pPr>
            <a:r>
              <a:rPr lang="en-US" sz="2250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The queue architecture ensures that "High Priority" orders are grouped together for optimized scheduling without permanently starving standard requests.</a:t>
            </a:r>
          </a:p>
        </p:txBody>
      </p:sp>
      <p:sp>
        <p:nvSpPr>
          <p:cNvPr name="Freeform 12" id="12" descr="image.png"/>
          <p:cNvSpPr/>
          <p:nvPr/>
        </p:nvSpPr>
        <p:spPr>
          <a:xfrm flipH="false" flipV="false" rot="0">
            <a:off x="9998579" y="1773993"/>
            <a:ext cx="8289421" cy="9325598"/>
          </a:xfrm>
          <a:custGeom>
            <a:avLst/>
            <a:gdLst/>
            <a:ahLst/>
            <a:cxnLst/>
            <a:rect r="r" b="b" t="t" l="l"/>
            <a:pathLst>
              <a:path h="9325598" w="8289421">
                <a:moveTo>
                  <a:pt x="0" y="0"/>
                </a:moveTo>
                <a:lnTo>
                  <a:pt x="8289421" y="0"/>
                </a:lnTo>
                <a:lnTo>
                  <a:pt x="8289421" y="9325598"/>
                </a:lnTo>
                <a:lnTo>
                  <a:pt x="0" y="932559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838325"/>
            <a:chOff x="0" y="0"/>
            <a:chExt cx="24384000" cy="24511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2451100"/>
            </a:xfrm>
            <a:custGeom>
              <a:avLst/>
              <a:gdLst/>
              <a:ahLst/>
              <a:cxnLst/>
              <a:rect r="r" b="b" t="t" l="l"/>
              <a:pathLst>
                <a:path h="24511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2451100"/>
                  </a:lnTo>
                  <a:lnTo>
                    <a:pt x="0" y="24511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sp>
        <p:nvSpPr>
          <p:cNvPr name="TextBox 4" id="4"/>
          <p:cNvSpPr txBox="true"/>
          <p:nvPr/>
        </p:nvSpPr>
        <p:spPr>
          <a:xfrm rot="0">
            <a:off x="16602837" y="9650197"/>
            <a:ext cx="366751" cy="3248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31"/>
              </a:lnSpc>
            </a:pPr>
            <a:r>
              <a:rPr lang="en-US" sz="1800">
                <a:solidFill>
                  <a:srgbClr val="888888"/>
                </a:solidFill>
                <a:latin typeface="Calibri (MS)"/>
                <a:ea typeface="Calibri (MS)"/>
                <a:cs typeface="Calibri (MS)"/>
                <a:sym typeface="Calibri (MS)"/>
              </a:rPr>
              <a:t>‹#›</a:t>
            </a:r>
          </a:p>
        </p:txBody>
      </p:sp>
      <p:grpSp>
        <p:nvGrpSpPr>
          <p:cNvPr name="Group 5" id="5"/>
          <p:cNvGrpSpPr/>
          <p:nvPr/>
        </p:nvGrpSpPr>
        <p:grpSpPr>
          <a:xfrm rot="0">
            <a:off x="857250" y="6503750"/>
            <a:ext cx="16573500" cy="2754550"/>
            <a:chOff x="0" y="0"/>
            <a:chExt cx="22098000" cy="3672733"/>
          </a:xfrm>
        </p:grpSpPr>
        <p:sp>
          <p:nvSpPr>
            <p:cNvPr name="Freeform 6" id="6" descr="image.png"/>
            <p:cNvSpPr/>
            <p:nvPr/>
          </p:nvSpPr>
          <p:spPr>
            <a:xfrm flipH="false" flipV="false" rot="0">
              <a:off x="0" y="0"/>
              <a:ext cx="22098000" cy="3672733"/>
            </a:xfrm>
            <a:custGeom>
              <a:avLst/>
              <a:gdLst/>
              <a:ahLst/>
              <a:cxnLst/>
              <a:rect r="r" b="b" t="t" l="l"/>
              <a:pathLst>
                <a:path h="3672733" w="22098000">
                  <a:moveTo>
                    <a:pt x="0" y="0"/>
                  </a:moveTo>
                  <a:lnTo>
                    <a:pt x="22098000" y="0"/>
                  </a:lnTo>
                  <a:lnTo>
                    <a:pt x="22098000" y="3672733"/>
                  </a:lnTo>
                  <a:lnTo>
                    <a:pt x="0" y="367273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347E"/>
            </a:solidFill>
          </p:spPr>
        </p:sp>
      </p:grpSp>
      <p:sp>
        <p:nvSpPr>
          <p:cNvPr name="TextBox 7" id="7"/>
          <p:cNvSpPr txBox="true"/>
          <p:nvPr/>
        </p:nvSpPr>
        <p:spPr>
          <a:xfrm rot="0">
            <a:off x="8367117" y="4153456"/>
            <a:ext cx="157162" cy="1057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100"/>
              </a:lnSpc>
            </a:pPr>
            <a:r>
              <a:rPr lang="en-US" sz="6750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: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443038" y="6975959"/>
            <a:ext cx="15401925" cy="16672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51"/>
              </a:lnSpc>
            </a:pPr>
            <a:r>
              <a:rPr lang="en-US" sz="2649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The scheduler operates in cycles: processing 2 high-priority orders for every 1 normal-priority order. This prevents bottlenecking in the standard queue while honoring service level agreements for premium deliveries.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2352080" y="3403363"/>
            <a:ext cx="2214562" cy="2114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6200"/>
              </a:lnSpc>
            </a:pPr>
            <a:r>
              <a:rPr lang="en-US" b="true" sz="13500">
                <a:solidFill>
                  <a:srgbClr val="333333"/>
                </a:solidFill>
                <a:latin typeface="Arimo Bold"/>
                <a:ea typeface="Arimo Bold"/>
                <a:cs typeface="Arimo Bold"/>
                <a:sym typeface="Arimo Bold"/>
              </a:rPr>
              <a:t>2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2173387" y="5498863"/>
            <a:ext cx="2571949" cy="428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40"/>
              </a:lnSpc>
            </a:pPr>
            <a:r>
              <a:rPr lang="en-US" b="true" sz="2700">
                <a:solidFill>
                  <a:srgbClr val="19347E"/>
                </a:solidFill>
                <a:latin typeface="Arimo Bold"/>
                <a:ea typeface="Arimo Bold"/>
                <a:cs typeface="Arimo Bold"/>
                <a:sym typeface="Arimo Bold"/>
              </a:rPr>
              <a:t>HIGH PRIORITY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2324755" y="3403363"/>
            <a:ext cx="2800350" cy="2114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6200"/>
              </a:lnSpc>
            </a:pPr>
            <a:r>
              <a:rPr lang="en-US" b="true" sz="13500">
                <a:solidFill>
                  <a:srgbClr val="333333"/>
                </a:solidFill>
                <a:latin typeface="Arimo Bold"/>
                <a:ea typeface="Arimo Bold"/>
                <a:cs typeface="Arimo Bold"/>
                <a:sym typeface="Arimo Bold"/>
              </a:rPr>
              <a:t>1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2115205" y="5498863"/>
            <a:ext cx="3219450" cy="428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240"/>
              </a:lnSpc>
              <a:spcBef>
                <a:spcPct val="0"/>
              </a:spcBef>
            </a:pPr>
            <a:r>
              <a:rPr lang="en-US" b="true" sz="2700" strike="noStrike" u="none">
                <a:solidFill>
                  <a:srgbClr val="19347E"/>
                </a:solidFill>
                <a:latin typeface="Arimo Bold"/>
                <a:ea typeface="Arimo Bold"/>
                <a:cs typeface="Arimo Bold"/>
                <a:sym typeface="Arimo Bold"/>
              </a:rPr>
              <a:t>NORMAL PRIORITY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809030" y="2174638"/>
            <a:ext cx="17027128" cy="857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480"/>
              </a:lnSpc>
            </a:pPr>
            <a:r>
              <a:rPr lang="en-US" b="true" sz="5400">
                <a:solidFill>
                  <a:srgbClr val="FAD021"/>
                </a:solidFill>
                <a:latin typeface="Arimo Bold"/>
                <a:ea typeface="Arimo Bold"/>
                <a:cs typeface="Arimo Bold"/>
                <a:sym typeface="Arimo Bold"/>
              </a:rPr>
              <a:t>Weighted Scheduling Rule</a:t>
            </a:r>
          </a:p>
        </p:txBody>
      </p:sp>
      <p:grpSp>
        <p:nvGrpSpPr>
          <p:cNvPr name="Group 14" id="14"/>
          <p:cNvGrpSpPr/>
          <p:nvPr/>
        </p:nvGrpSpPr>
        <p:grpSpPr>
          <a:xfrm rot="0">
            <a:off x="451842" y="2203213"/>
            <a:ext cx="71438" cy="828675"/>
            <a:chOff x="0" y="0"/>
            <a:chExt cx="95250" cy="11049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95250" cy="1104900"/>
            </a:xfrm>
            <a:custGeom>
              <a:avLst/>
              <a:gdLst/>
              <a:ahLst/>
              <a:cxnLst/>
              <a:rect r="r" b="b" t="t" l="l"/>
              <a:pathLst>
                <a:path h="1104900" w="95250">
                  <a:moveTo>
                    <a:pt x="0" y="0"/>
                  </a:moveTo>
                  <a:lnTo>
                    <a:pt x="95250" y="0"/>
                  </a:lnTo>
                  <a:lnTo>
                    <a:pt x="95250" y="1104900"/>
                  </a:lnTo>
                  <a:lnTo>
                    <a:pt x="0" y="1104900"/>
                  </a:lnTo>
                  <a:close/>
                </a:path>
              </a:pathLst>
            </a:custGeom>
            <a:solidFill>
              <a:srgbClr val="19347E"/>
            </a:solidFill>
          </p:spPr>
        </p:sp>
      </p:grp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838325"/>
            <a:chOff x="0" y="0"/>
            <a:chExt cx="24384000" cy="24511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2451100"/>
            </a:xfrm>
            <a:custGeom>
              <a:avLst/>
              <a:gdLst/>
              <a:ahLst/>
              <a:cxnLst/>
              <a:rect r="r" b="b" t="t" l="l"/>
              <a:pathLst>
                <a:path h="24511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2451100"/>
                  </a:lnTo>
                  <a:lnTo>
                    <a:pt x="0" y="24511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1859586" y="6186298"/>
            <a:ext cx="15045909" cy="51882"/>
            <a:chOff x="0" y="0"/>
            <a:chExt cx="22098000" cy="762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2098000" cy="76200"/>
            </a:xfrm>
            <a:custGeom>
              <a:avLst/>
              <a:gdLst/>
              <a:ahLst/>
              <a:cxnLst/>
              <a:rect r="r" b="b" t="t" l="l"/>
              <a:pathLst>
                <a:path h="76200" w="22098000">
                  <a:moveTo>
                    <a:pt x="0" y="0"/>
                  </a:moveTo>
                  <a:lnTo>
                    <a:pt x="22098000" y="0"/>
                  </a:lnTo>
                  <a:lnTo>
                    <a:pt x="22098000" y="76200"/>
                  </a:lnTo>
                  <a:lnTo>
                    <a:pt x="0" y="76200"/>
                  </a:lnTo>
                  <a:close/>
                </a:path>
              </a:pathLst>
            </a:custGeom>
            <a:solidFill>
              <a:srgbClr val="333333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432819" y="6510563"/>
            <a:ext cx="4082083" cy="3082669"/>
            <a:chOff x="0" y="0"/>
            <a:chExt cx="15465448" cy="11679052"/>
          </a:xfrm>
        </p:grpSpPr>
        <p:sp>
          <p:nvSpPr>
            <p:cNvPr name="Freeform 7" id="7" descr="image.png"/>
            <p:cNvSpPr/>
            <p:nvPr/>
          </p:nvSpPr>
          <p:spPr>
            <a:xfrm flipH="false" flipV="false" rot="0">
              <a:off x="0" y="0"/>
              <a:ext cx="15465448" cy="11679052"/>
            </a:xfrm>
            <a:custGeom>
              <a:avLst/>
              <a:gdLst/>
              <a:ahLst/>
              <a:cxnLst/>
              <a:rect r="r" b="b" t="t" l="l"/>
              <a:pathLst>
                <a:path h="11679052" w="15465448">
                  <a:moveTo>
                    <a:pt x="0" y="0"/>
                  </a:moveTo>
                  <a:lnTo>
                    <a:pt x="15465448" y="0"/>
                  </a:lnTo>
                  <a:lnTo>
                    <a:pt x="15465448" y="11679052"/>
                  </a:lnTo>
                  <a:lnTo>
                    <a:pt x="0" y="1167905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347E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1859586" y="6316004"/>
            <a:ext cx="389118" cy="389118"/>
            <a:chOff x="0" y="0"/>
            <a:chExt cx="571500" cy="571500"/>
          </a:xfrm>
        </p:grpSpPr>
        <p:sp>
          <p:nvSpPr>
            <p:cNvPr name="Freeform 9" id="9" descr="image.png"/>
            <p:cNvSpPr/>
            <p:nvPr/>
          </p:nvSpPr>
          <p:spPr>
            <a:xfrm flipH="false" flipV="false" rot="0">
              <a:off x="0" y="0"/>
              <a:ext cx="571500" cy="571500"/>
            </a:xfrm>
            <a:custGeom>
              <a:avLst/>
              <a:gdLst/>
              <a:ahLst/>
              <a:cxnLst/>
              <a:rect r="r" b="b" t="t" l="l"/>
              <a:pathLst>
                <a:path h="571500" w="571500">
                  <a:moveTo>
                    <a:pt x="0" y="0"/>
                  </a:moveTo>
                  <a:lnTo>
                    <a:pt x="571500" y="0"/>
                  </a:lnTo>
                  <a:lnTo>
                    <a:pt x="571500" y="571500"/>
                  </a:lnTo>
                  <a:lnTo>
                    <a:pt x="0" y="5715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760075" y="6980951"/>
            <a:ext cx="3404785" cy="3078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94"/>
              </a:lnSpc>
            </a:pPr>
            <a:r>
              <a:rPr lang="en-US" b="true" sz="1911">
                <a:solidFill>
                  <a:srgbClr val="F5F5F5"/>
                </a:solidFill>
                <a:latin typeface="Arimo Bold"/>
                <a:ea typeface="Arimo Bold"/>
                <a:cs typeface="Arimo Bold"/>
                <a:sym typeface="Arimo Bold"/>
              </a:rPr>
              <a:t>Browse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760075" y="7443437"/>
            <a:ext cx="3242653" cy="11943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31"/>
              </a:lnSpc>
            </a:pPr>
            <a:r>
              <a:rPr lang="en-US" sz="2042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Load products from memory and browse by specific category headers.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3467530" y="3181783"/>
            <a:ext cx="3665366" cy="2687668"/>
            <a:chOff x="0" y="0"/>
            <a:chExt cx="13886671" cy="10182545"/>
          </a:xfrm>
        </p:grpSpPr>
        <p:sp>
          <p:nvSpPr>
            <p:cNvPr name="Freeform 13" id="13" descr="image.png"/>
            <p:cNvSpPr/>
            <p:nvPr/>
          </p:nvSpPr>
          <p:spPr>
            <a:xfrm flipH="false" flipV="false" rot="0">
              <a:off x="0" y="0"/>
              <a:ext cx="13886670" cy="10182545"/>
            </a:xfrm>
            <a:custGeom>
              <a:avLst/>
              <a:gdLst/>
              <a:ahLst/>
              <a:cxnLst/>
              <a:rect r="r" b="b" t="t" l="l"/>
              <a:pathLst>
                <a:path h="10182545" w="13886670">
                  <a:moveTo>
                    <a:pt x="0" y="0"/>
                  </a:moveTo>
                  <a:lnTo>
                    <a:pt x="13886670" y="0"/>
                  </a:lnTo>
                  <a:lnTo>
                    <a:pt x="13886670" y="10182545"/>
                  </a:lnTo>
                  <a:lnTo>
                    <a:pt x="0" y="1018254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347E"/>
            </a:solidFill>
          </p:spPr>
        </p:sp>
      </p:grpSp>
      <p:sp>
        <p:nvSpPr>
          <p:cNvPr name="TextBox 14" id="14"/>
          <p:cNvSpPr txBox="true"/>
          <p:nvPr/>
        </p:nvSpPr>
        <p:spPr>
          <a:xfrm rot="0">
            <a:off x="3678887" y="3675237"/>
            <a:ext cx="3404785" cy="3078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94"/>
              </a:lnSpc>
            </a:pPr>
            <a:r>
              <a:rPr lang="en-US" b="true" sz="1911">
                <a:solidFill>
                  <a:srgbClr val="F5F5F5"/>
                </a:solidFill>
                <a:latin typeface="Arimo Bold"/>
                <a:ea typeface="Arimo Bold"/>
                <a:cs typeface="Arimo Bold"/>
                <a:sym typeface="Arimo Bold"/>
              </a:rPr>
              <a:t>Build Cart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3678887" y="4137723"/>
            <a:ext cx="3242653" cy="11943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31"/>
              </a:lnSpc>
            </a:pPr>
            <a:r>
              <a:rPr lang="en-US" sz="2042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Select quantity with automated stock availability checks.</a:t>
            </a:r>
          </a:p>
        </p:txBody>
      </p:sp>
      <p:grpSp>
        <p:nvGrpSpPr>
          <p:cNvPr name="Group 16" id="16"/>
          <p:cNvGrpSpPr/>
          <p:nvPr/>
        </p:nvGrpSpPr>
        <p:grpSpPr>
          <a:xfrm rot="0">
            <a:off x="4992161" y="5785133"/>
            <a:ext cx="389118" cy="389118"/>
            <a:chOff x="0" y="0"/>
            <a:chExt cx="571500" cy="571500"/>
          </a:xfrm>
        </p:grpSpPr>
        <p:sp>
          <p:nvSpPr>
            <p:cNvPr name="Freeform 17" id="17" descr="image.png"/>
            <p:cNvSpPr/>
            <p:nvPr/>
          </p:nvSpPr>
          <p:spPr>
            <a:xfrm flipH="false" flipV="false" rot="0">
              <a:off x="0" y="0"/>
              <a:ext cx="571500" cy="571500"/>
            </a:xfrm>
            <a:custGeom>
              <a:avLst/>
              <a:gdLst/>
              <a:ahLst/>
              <a:cxnLst/>
              <a:rect r="r" b="b" t="t" l="l"/>
              <a:pathLst>
                <a:path h="571500" w="571500">
                  <a:moveTo>
                    <a:pt x="0" y="0"/>
                  </a:moveTo>
                  <a:lnTo>
                    <a:pt x="571500" y="0"/>
                  </a:lnTo>
                  <a:lnTo>
                    <a:pt x="571500" y="571500"/>
                  </a:lnTo>
                  <a:lnTo>
                    <a:pt x="0" y="5715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-3333" b="0"/>
              </a:stretch>
            </a:blipFill>
          </p:spPr>
        </p:sp>
      </p:grpSp>
      <p:grpSp>
        <p:nvGrpSpPr>
          <p:cNvPr name="Group 18" id="18"/>
          <p:cNvGrpSpPr/>
          <p:nvPr/>
        </p:nvGrpSpPr>
        <p:grpSpPr>
          <a:xfrm rot="0">
            <a:off x="9650280" y="3181783"/>
            <a:ext cx="3665366" cy="2737668"/>
            <a:chOff x="0" y="0"/>
            <a:chExt cx="13886671" cy="10371976"/>
          </a:xfrm>
        </p:grpSpPr>
        <p:sp>
          <p:nvSpPr>
            <p:cNvPr name="Freeform 19" id="19" descr="image.png"/>
            <p:cNvSpPr/>
            <p:nvPr/>
          </p:nvSpPr>
          <p:spPr>
            <a:xfrm flipH="false" flipV="false" rot="0">
              <a:off x="0" y="0"/>
              <a:ext cx="13886670" cy="10371975"/>
            </a:xfrm>
            <a:custGeom>
              <a:avLst/>
              <a:gdLst/>
              <a:ahLst/>
              <a:cxnLst/>
              <a:rect r="r" b="b" t="t" l="l"/>
              <a:pathLst>
                <a:path h="10371975" w="13886670">
                  <a:moveTo>
                    <a:pt x="0" y="0"/>
                  </a:moveTo>
                  <a:lnTo>
                    <a:pt x="13886670" y="0"/>
                  </a:lnTo>
                  <a:lnTo>
                    <a:pt x="13886670" y="10371975"/>
                  </a:lnTo>
                  <a:lnTo>
                    <a:pt x="0" y="1037197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347E"/>
            </a:solid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11282125" y="5746333"/>
            <a:ext cx="389118" cy="389118"/>
            <a:chOff x="0" y="0"/>
            <a:chExt cx="571500" cy="571500"/>
          </a:xfrm>
        </p:grpSpPr>
        <p:sp>
          <p:nvSpPr>
            <p:cNvPr name="Freeform 21" id="21" descr="image.png"/>
            <p:cNvSpPr/>
            <p:nvPr/>
          </p:nvSpPr>
          <p:spPr>
            <a:xfrm flipH="false" flipV="false" rot="0">
              <a:off x="0" y="0"/>
              <a:ext cx="571500" cy="571500"/>
            </a:xfrm>
            <a:custGeom>
              <a:avLst/>
              <a:gdLst/>
              <a:ahLst/>
              <a:cxnLst/>
              <a:rect r="r" b="b" t="t" l="l"/>
              <a:pathLst>
                <a:path h="571500" w="571500">
                  <a:moveTo>
                    <a:pt x="0" y="0"/>
                  </a:moveTo>
                  <a:lnTo>
                    <a:pt x="571500" y="0"/>
                  </a:lnTo>
                  <a:lnTo>
                    <a:pt x="571500" y="571500"/>
                  </a:lnTo>
                  <a:lnTo>
                    <a:pt x="0" y="5715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-3333" b="0"/>
              </a:stretch>
            </a:blipFill>
          </p:spPr>
        </p:sp>
      </p:grpSp>
      <p:sp>
        <p:nvSpPr>
          <p:cNvPr name="TextBox 22" id="22"/>
          <p:cNvSpPr txBox="true"/>
          <p:nvPr/>
        </p:nvSpPr>
        <p:spPr>
          <a:xfrm rot="0">
            <a:off x="9920386" y="3557442"/>
            <a:ext cx="3404785" cy="3078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94"/>
              </a:lnSpc>
            </a:pPr>
            <a:r>
              <a:rPr lang="en-US" b="true" sz="1911">
                <a:solidFill>
                  <a:srgbClr val="F5F5F5"/>
                </a:solidFill>
                <a:latin typeface="Arimo Bold"/>
                <a:ea typeface="Arimo Bold"/>
                <a:cs typeface="Arimo Bold"/>
                <a:sym typeface="Arimo Bold"/>
              </a:rPr>
              <a:t>Prioritize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9910861" y="4008166"/>
            <a:ext cx="3242653" cy="11943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31"/>
              </a:lnSpc>
            </a:pPr>
            <a:r>
              <a:rPr lang="en-US" sz="2042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Choose between High (Queue 1) and Normal (Queue 2) delivery.</a:t>
            </a:r>
          </a:p>
        </p:txBody>
      </p:sp>
      <p:grpSp>
        <p:nvGrpSpPr>
          <p:cNvPr name="Group 24" id="24"/>
          <p:cNvGrpSpPr/>
          <p:nvPr/>
        </p:nvGrpSpPr>
        <p:grpSpPr>
          <a:xfrm rot="0">
            <a:off x="12404897" y="6514405"/>
            <a:ext cx="5389990" cy="3078827"/>
            <a:chOff x="0" y="0"/>
            <a:chExt cx="20420608" cy="11664496"/>
          </a:xfrm>
        </p:grpSpPr>
        <p:sp>
          <p:nvSpPr>
            <p:cNvPr name="Freeform 25" id="25" descr="image.png"/>
            <p:cNvSpPr/>
            <p:nvPr/>
          </p:nvSpPr>
          <p:spPr>
            <a:xfrm flipH="false" flipV="false" rot="0">
              <a:off x="0" y="0"/>
              <a:ext cx="20420608" cy="11664496"/>
            </a:xfrm>
            <a:custGeom>
              <a:avLst/>
              <a:gdLst/>
              <a:ahLst/>
              <a:cxnLst/>
              <a:rect r="r" b="b" t="t" l="l"/>
              <a:pathLst>
                <a:path h="11664496" w="20420608">
                  <a:moveTo>
                    <a:pt x="0" y="0"/>
                  </a:moveTo>
                  <a:lnTo>
                    <a:pt x="20420608" y="0"/>
                  </a:lnTo>
                  <a:lnTo>
                    <a:pt x="20420608" y="11664496"/>
                  </a:lnTo>
                  <a:lnTo>
                    <a:pt x="0" y="1166449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347E"/>
            </a:solidFill>
          </p:spPr>
        </p:sp>
      </p:grpSp>
      <p:sp>
        <p:nvSpPr>
          <p:cNvPr name="TextBox 26" id="26"/>
          <p:cNvSpPr txBox="true"/>
          <p:nvPr/>
        </p:nvSpPr>
        <p:spPr>
          <a:xfrm rot="0">
            <a:off x="12784102" y="6831789"/>
            <a:ext cx="2594529" cy="3078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94"/>
              </a:lnSpc>
            </a:pPr>
            <a:r>
              <a:rPr lang="en-US" b="true" sz="1911">
                <a:solidFill>
                  <a:srgbClr val="F5F5F5"/>
                </a:solidFill>
                <a:latin typeface="Arimo Bold"/>
                <a:ea typeface="Arimo Bold"/>
                <a:cs typeface="Arimo Bold"/>
                <a:sym typeface="Arimo Bold"/>
              </a:rPr>
              <a:t>Checkout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2773522" y="7171054"/>
            <a:ext cx="4631580" cy="21420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31"/>
              </a:lnSpc>
            </a:pPr>
            <a:r>
              <a:rPr lang="en-US" sz="2042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Enter address; validation checks format (min 10 chars). In-memory stock deducted via updateStock(), queue gets appended, and the cart cleared ONLY on successful placement</a:t>
            </a:r>
          </a:p>
        </p:txBody>
      </p:sp>
      <p:grpSp>
        <p:nvGrpSpPr>
          <p:cNvPr name="Group 28" id="28"/>
          <p:cNvGrpSpPr/>
          <p:nvPr/>
        </p:nvGrpSpPr>
        <p:grpSpPr>
          <a:xfrm rot="0">
            <a:off x="14700194" y="6292727"/>
            <a:ext cx="389118" cy="389118"/>
            <a:chOff x="0" y="0"/>
            <a:chExt cx="571500" cy="571500"/>
          </a:xfrm>
        </p:grpSpPr>
        <p:sp>
          <p:nvSpPr>
            <p:cNvPr name="Freeform 29" id="29" descr="image.png"/>
            <p:cNvSpPr/>
            <p:nvPr/>
          </p:nvSpPr>
          <p:spPr>
            <a:xfrm flipH="false" flipV="false" rot="0">
              <a:off x="0" y="0"/>
              <a:ext cx="571500" cy="571500"/>
            </a:xfrm>
            <a:custGeom>
              <a:avLst/>
              <a:gdLst/>
              <a:ahLst/>
              <a:cxnLst/>
              <a:rect r="r" b="b" t="t" l="l"/>
              <a:pathLst>
                <a:path h="571500" w="571500">
                  <a:moveTo>
                    <a:pt x="0" y="0"/>
                  </a:moveTo>
                  <a:lnTo>
                    <a:pt x="571500" y="0"/>
                  </a:lnTo>
                  <a:lnTo>
                    <a:pt x="571500" y="571500"/>
                  </a:lnTo>
                  <a:lnTo>
                    <a:pt x="0" y="5715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-3333" b="0"/>
              </a:stretch>
            </a:blipFill>
          </p:spPr>
        </p:sp>
      </p:grpSp>
      <p:sp>
        <p:nvSpPr>
          <p:cNvPr name="TextBox 30" id="30"/>
          <p:cNvSpPr txBox="true"/>
          <p:nvPr/>
        </p:nvSpPr>
        <p:spPr>
          <a:xfrm rot="0">
            <a:off x="823759" y="2096112"/>
            <a:ext cx="15457726" cy="7713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882"/>
              </a:lnSpc>
            </a:pPr>
            <a:r>
              <a:rPr lang="en-US" b="true" sz="4902">
                <a:solidFill>
                  <a:srgbClr val="FAD021"/>
                </a:solidFill>
                <a:latin typeface="Arimo Bold"/>
                <a:ea typeface="Arimo Bold"/>
                <a:cs typeface="Arimo Bold"/>
                <a:sym typeface="Arimo Bold"/>
              </a:rPr>
              <a:t>Customer Workflow</a:t>
            </a:r>
          </a:p>
        </p:txBody>
      </p:sp>
      <p:grpSp>
        <p:nvGrpSpPr>
          <p:cNvPr name="Group 31" id="31"/>
          <p:cNvGrpSpPr/>
          <p:nvPr/>
        </p:nvGrpSpPr>
        <p:grpSpPr>
          <a:xfrm rot="0">
            <a:off x="499494" y="2115162"/>
            <a:ext cx="64853" cy="752295"/>
            <a:chOff x="0" y="0"/>
            <a:chExt cx="95250" cy="1104900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95250" cy="1104900"/>
            </a:xfrm>
            <a:custGeom>
              <a:avLst/>
              <a:gdLst/>
              <a:ahLst/>
              <a:cxnLst/>
              <a:rect r="r" b="b" t="t" l="l"/>
              <a:pathLst>
                <a:path h="1104900" w="95250">
                  <a:moveTo>
                    <a:pt x="0" y="0"/>
                  </a:moveTo>
                  <a:lnTo>
                    <a:pt x="95250" y="0"/>
                  </a:lnTo>
                  <a:lnTo>
                    <a:pt x="95250" y="1104900"/>
                  </a:lnTo>
                  <a:lnTo>
                    <a:pt x="0" y="1104900"/>
                  </a:lnTo>
                  <a:close/>
                </a:path>
              </a:pathLst>
            </a:custGeom>
            <a:solidFill>
              <a:srgbClr val="19347E"/>
            </a:solidFill>
          </p:spPr>
        </p:sp>
      </p:grpSp>
      <p:grpSp>
        <p:nvGrpSpPr>
          <p:cNvPr name="Group 33" id="33"/>
          <p:cNvGrpSpPr/>
          <p:nvPr/>
        </p:nvGrpSpPr>
        <p:grpSpPr>
          <a:xfrm rot="0">
            <a:off x="6211758" y="6510563"/>
            <a:ext cx="5070368" cy="3082669"/>
            <a:chOff x="0" y="0"/>
            <a:chExt cx="19209682" cy="11679052"/>
          </a:xfrm>
        </p:grpSpPr>
        <p:sp>
          <p:nvSpPr>
            <p:cNvPr name="Freeform 34" id="34" descr="image.png"/>
            <p:cNvSpPr/>
            <p:nvPr/>
          </p:nvSpPr>
          <p:spPr>
            <a:xfrm flipH="false" flipV="false" rot="0">
              <a:off x="0" y="0"/>
              <a:ext cx="19209682" cy="11679052"/>
            </a:xfrm>
            <a:custGeom>
              <a:avLst/>
              <a:gdLst/>
              <a:ahLst/>
              <a:cxnLst/>
              <a:rect r="r" b="b" t="t" l="l"/>
              <a:pathLst>
                <a:path h="11679052" w="19209682">
                  <a:moveTo>
                    <a:pt x="0" y="0"/>
                  </a:moveTo>
                  <a:lnTo>
                    <a:pt x="19209682" y="0"/>
                  </a:lnTo>
                  <a:lnTo>
                    <a:pt x="19209682" y="11679052"/>
                  </a:lnTo>
                  <a:lnTo>
                    <a:pt x="0" y="1167905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347E"/>
            </a:solidFill>
          </p:spPr>
        </p:sp>
      </p:grpSp>
      <p:grpSp>
        <p:nvGrpSpPr>
          <p:cNvPr name="Group 35" id="35"/>
          <p:cNvGrpSpPr/>
          <p:nvPr/>
        </p:nvGrpSpPr>
        <p:grpSpPr>
          <a:xfrm rot="0">
            <a:off x="7638525" y="6316004"/>
            <a:ext cx="389118" cy="389118"/>
            <a:chOff x="0" y="0"/>
            <a:chExt cx="571500" cy="571500"/>
          </a:xfrm>
        </p:grpSpPr>
        <p:sp>
          <p:nvSpPr>
            <p:cNvPr name="Freeform 36" id="36" descr="image.png"/>
            <p:cNvSpPr/>
            <p:nvPr/>
          </p:nvSpPr>
          <p:spPr>
            <a:xfrm flipH="false" flipV="false" rot="0">
              <a:off x="0" y="0"/>
              <a:ext cx="571500" cy="571500"/>
            </a:xfrm>
            <a:custGeom>
              <a:avLst/>
              <a:gdLst/>
              <a:ahLst/>
              <a:cxnLst/>
              <a:rect r="r" b="b" t="t" l="l"/>
              <a:pathLst>
                <a:path h="571500" w="571500">
                  <a:moveTo>
                    <a:pt x="0" y="0"/>
                  </a:moveTo>
                  <a:lnTo>
                    <a:pt x="571500" y="0"/>
                  </a:lnTo>
                  <a:lnTo>
                    <a:pt x="571500" y="571500"/>
                  </a:lnTo>
                  <a:lnTo>
                    <a:pt x="0" y="5715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sp>
        <p:nvSpPr>
          <p:cNvPr name="TextBox 37" id="37"/>
          <p:cNvSpPr txBox="true"/>
          <p:nvPr/>
        </p:nvSpPr>
        <p:spPr>
          <a:xfrm rot="0">
            <a:off x="6539014" y="6980951"/>
            <a:ext cx="3404785" cy="2948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94"/>
              </a:lnSpc>
            </a:pPr>
            <a:r>
              <a:rPr lang="en-US" b="true" sz="1911">
                <a:solidFill>
                  <a:srgbClr val="F5F5F5"/>
                </a:solidFill>
                <a:latin typeface="Arimo Bold"/>
                <a:ea typeface="Arimo Bold"/>
                <a:cs typeface="Arimo Bold"/>
                <a:sym typeface="Arimo Bold"/>
              </a:rPr>
              <a:t>Edit Ca</a:t>
            </a:r>
            <a:r>
              <a:rPr lang="en-US" b="true" sz="1911">
                <a:solidFill>
                  <a:srgbClr val="F5F5F5"/>
                </a:solidFill>
                <a:latin typeface="Arimo Bold"/>
                <a:ea typeface="Arimo Bold"/>
                <a:cs typeface="Arimo Bold"/>
                <a:sym typeface="Arimo Bold"/>
              </a:rPr>
              <a:t>rt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6539014" y="7443437"/>
            <a:ext cx="4743112" cy="17096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31"/>
              </a:lnSpc>
            </a:pPr>
            <a:r>
              <a:rPr lang="en-US" sz="2042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Edit Quantity: Sub-menu all</a:t>
            </a:r>
            <a:r>
              <a:rPr lang="en-US" sz="2042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ows live updating of item quantities or entering 0 to remove an item in place, with immediate stock verification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838325"/>
            <a:chOff x="0" y="0"/>
            <a:chExt cx="24384000" cy="24511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2451100"/>
            </a:xfrm>
            <a:custGeom>
              <a:avLst/>
              <a:gdLst/>
              <a:ahLst/>
              <a:cxnLst/>
              <a:rect r="r" b="b" t="t" l="l"/>
              <a:pathLst>
                <a:path h="24511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2451100"/>
                  </a:lnTo>
                  <a:lnTo>
                    <a:pt x="0" y="24511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sp>
        <p:nvSpPr>
          <p:cNvPr name="Freeform 4" id="4"/>
          <p:cNvSpPr/>
          <p:nvPr/>
        </p:nvSpPr>
        <p:spPr>
          <a:xfrm flipH="false" flipV="false" rot="0">
            <a:off x="599876" y="2443937"/>
            <a:ext cx="10793987" cy="2810761"/>
          </a:xfrm>
          <a:custGeom>
            <a:avLst/>
            <a:gdLst/>
            <a:ahLst/>
            <a:cxnLst/>
            <a:rect r="r" b="b" t="t" l="l"/>
            <a:pathLst>
              <a:path h="2810761" w="10793987">
                <a:moveTo>
                  <a:pt x="0" y="0"/>
                </a:moveTo>
                <a:lnTo>
                  <a:pt x="10793987" y="0"/>
                </a:lnTo>
                <a:lnTo>
                  <a:pt x="10793987" y="2810760"/>
                </a:lnTo>
                <a:lnTo>
                  <a:pt x="0" y="281076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3356634" y="2142518"/>
            <a:ext cx="3454603" cy="3413598"/>
          </a:xfrm>
          <a:custGeom>
            <a:avLst/>
            <a:gdLst/>
            <a:ahLst/>
            <a:cxnLst/>
            <a:rect r="r" b="b" t="t" l="l"/>
            <a:pathLst>
              <a:path h="3413598" w="3454603">
                <a:moveTo>
                  <a:pt x="0" y="0"/>
                </a:moveTo>
                <a:lnTo>
                  <a:pt x="3454602" y="0"/>
                </a:lnTo>
                <a:lnTo>
                  <a:pt x="3454602" y="3413598"/>
                </a:lnTo>
                <a:lnTo>
                  <a:pt x="0" y="341359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2572950" y="6784932"/>
            <a:ext cx="5021971" cy="2898318"/>
          </a:xfrm>
          <a:custGeom>
            <a:avLst/>
            <a:gdLst/>
            <a:ahLst/>
            <a:cxnLst/>
            <a:rect r="r" b="b" t="t" l="l"/>
            <a:pathLst>
              <a:path h="2898318" w="5021971">
                <a:moveTo>
                  <a:pt x="0" y="0"/>
                </a:moveTo>
                <a:lnTo>
                  <a:pt x="5021971" y="0"/>
                </a:lnTo>
                <a:lnTo>
                  <a:pt x="5021971" y="2898319"/>
                </a:lnTo>
                <a:lnTo>
                  <a:pt x="0" y="289831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643117" y="7609325"/>
            <a:ext cx="10750746" cy="2092767"/>
          </a:xfrm>
          <a:custGeom>
            <a:avLst/>
            <a:gdLst/>
            <a:ahLst/>
            <a:cxnLst/>
            <a:rect r="r" b="b" t="t" l="l"/>
            <a:pathLst>
              <a:path h="2092767" w="10750746">
                <a:moveTo>
                  <a:pt x="0" y="0"/>
                </a:moveTo>
                <a:lnTo>
                  <a:pt x="10750746" y="0"/>
                </a:lnTo>
                <a:lnTo>
                  <a:pt x="10750746" y="2092767"/>
                </a:lnTo>
                <a:lnTo>
                  <a:pt x="0" y="2092767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7549615" y="5688930"/>
            <a:ext cx="5395414" cy="7626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882"/>
              </a:lnSpc>
            </a:pPr>
            <a:r>
              <a:rPr lang="en-US" b="true" sz="4902">
                <a:solidFill>
                  <a:srgbClr val="19347E"/>
                </a:solidFill>
                <a:latin typeface="Arimo Bold"/>
                <a:ea typeface="Arimo Bold"/>
                <a:cs typeface="Arimo Bold"/>
                <a:sym typeface="Arimo Bold"/>
              </a:rPr>
              <a:t>Output Snapshots</a:t>
            </a:r>
          </a:p>
        </p:txBody>
      </p:sp>
      <p:sp>
        <p:nvSpPr>
          <p:cNvPr name="AutoShape 9" id="9"/>
          <p:cNvSpPr/>
          <p:nvPr/>
        </p:nvSpPr>
        <p:spPr>
          <a:xfrm>
            <a:off x="11393863" y="3849317"/>
            <a:ext cx="1962771" cy="0"/>
          </a:xfrm>
          <a:prstGeom prst="line">
            <a:avLst/>
          </a:prstGeom>
          <a:ln cap="flat" w="38100">
            <a:solidFill>
              <a:srgbClr val="19347E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AutoShape 10" id="10"/>
          <p:cNvSpPr/>
          <p:nvPr/>
        </p:nvSpPr>
        <p:spPr>
          <a:xfrm flipH="true">
            <a:off x="15083935" y="5556116"/>
            <a:ext cx="0" cy="1228816"/>
          </a:xfrm>
          <a:prstGeom prst="line">
            <a:avLst/>
          </a:prstGeom>
          <a:ln cap="flat" w="38100">
            <a:solidFill>
              <a:srgbClr val="19347E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AutoShape 11" id="11"/>
          <p:cNvSpPr/>
          <p:nvPr/>
        </p:nvSpPr>
        <p:spPr>
          <a:xfrm flipH="true">
            <a:off x="11393863" y="8234091"/>
            <a:ext cx="1179087" cy="0"/>
          </a:xfrm>
          <a:prstGeom prst="line">
            <a:avLst/>
          </a:prstGeom>
          <a:ln cap="flat" w="38100">
            <a:solidFill>
              <a:srgbClr val="19347E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AutoShape 12" id="12"/>
          <p:cNvSpPr/>
          <p:nvPr/>
        </p:nvSpPr>
        <p:spPr>
          <a:xfrm flipH="true" flipV="true">
            <a:off x="5996869" y="5254697"/>
            <a:ext cx="21620" cy="2354627"/>
          </a:xfrm>
          <a:prstGeom prst="line">
            <a:avLst/>
          </a:prstGeom>
          <a:ln cap="flat" w="38100">
            <a:solidFill>
              <a:srgbClr val="19347E"/>
            </a:solidFill>
            <a:prstDash val="solid"/>
            <a:headEnd type="none" len="sm" w="sm"/>
            <a:tailEnd type="triangle" len="med" w="lg"/>
          </a:ln>
        </p:spPr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838325"/>
            <a:chOff x="0" y="0"/>
            <a:chExt cx="24384000" cy="24511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2451100"/>
            </a:xfrm>
            <a:custGeom>
              <a:avLst/>
              <a:gdLst/>
              <a:ahLst/>
              <a:cxnLst/>
              <a:rect r="r" b="b" t="t" l="l"/>
              <a:pathLst>
                <a:path h="24511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2451100"/>
                  </a:lnTo>
                  <a:lnTo>
                    <a:pt x="0" y="24511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356592" y="2273281"/>
            <a:ext cx="71438" cy="828675"/>
            <a:chOff x="0" y="0"/>
            <a:chExt cx="95250" cy="11049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95250" cy="1104900"/>
            </a:xfrm>
            <a:custGeom>
              <a:avLst/>
              <a:gdLst/>
              <a:ahLst/>
              <a:cxnLst/>
              <a:rect r="r" b="b" t="t" l="l"/>
              <a:pathLst>
                <a:path h="1104900" w="95250">
                  <a:moveTo>
                    <a:pt x="0" y="0"/>
                  </a:moveTo>
                  <a:lnTo>
                    <a:pt x="95250" y="0"/>
                  </a:lnTo>
                  <a:lnTo>
                    <a:pt x="95250" y="1104900"/>
                  </a:lnTo>
                  <a:lnTo>
                    <a:pt x="0" y="1104900"/>
                  </a:lnTo>
                  <a:close/>
                </a:path>
              </a:pathLst>
            </a:custGeom>
            <a:solidFill>
              <a:srgbClr val="19347E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311606" y="3558461"/>
            <a:ext cx="4202962" cy="6139361"/>
            <a:chOff x="0" y="0"/>
            <a:chExt cx="651149" cy="951148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651149" cy="951148"/>
            </a:xfrm>
            <a:custGeom>
              <a:avLst/>
              <a:gdLst/>
              <a:ahLst/>
              <a:cxnLst/>
              <a:rect r="r" b="b" t="t" l="l"/>
              <a:pathLst>
                <a:path h="951148" w="651149">
                  <a:moveTo>
                    <a:pt x="42366" y="0"/>
                  </a:moveTo>
                  <a:lnTo>
                    <a:pt x="608782" y="0"/>
                  </a:lnTo>
                  <a:cubicBezTo>
                    <a:pt x="632181" y="0"/>
                    <a:pt x="651149" y="18968"/>
                    <a:pt x="651149" y="42366"/>
                  </a:cubicBezTo>
                  <a:lnTo>
                    <a:pt x="651149" y="908781"/>
                  </a:lnTo>
                  <a:cubicBezTo>
                    <a:pt x="651149" y="920018"/>
                    <a:pt x="646685" y="930794"/>
                    <a:pt x="638740" y="938739"/>
                  </a:cubicBezTo>
                  <a:cubicBezTo>
                    <a:pt x="630795" y="946684"/>
                    <a:pt x="620019" y="951148"/>
                    <a:pt x="608782" y="951148"/>
                  </a:cubicBezTo>
                  <a:lnTo>
                    <a:pt x="42366" y="951148"/>
                  </a:lnTo>
                  <a:cubicBezTo>
                    <a:pt x="31130" y="951148"/>
                    <a:pt x="20354" y="946684"/>
                    <a:pt x="12409" y="938739"/>
                  </a:cubicBezTo>
                  <a:cubicBezTo>
                    <a:pt x="4464" y="930794"/>
                    <a:pt x="0" y="920018"/>
                    <a:pt x="0" y="908781"/>
                  </a:cubicBezTo>
                  <a:lnTo>
                    <a:pt x="0" y="42366"/>
                  </a:lnTo>
                  <a:cubicBezTo>
                    <a:pt x="0" y="31130"/>
                    <a:pt x="4464" y="20354"/>
                    <a:pt x="12409" y="12409"/>
                  </a:cubicBezTo>
                  <a:cubicBezTo>
                    <a:pt x="20354" y="4464"/>
                    <a:pt x="31130" y="0"/>
                    <a:pt x="42366" y="0"/>
                  </a:cubicBezTo>
                  <a:close/>
                </a:path>
              </a:pathLst>
            </a:custGeom>
            <a:solidFill>
              <a:srgbClr val="19347E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4796009" y="3558461"/>
            <a:ext cx="4202962" cy="6139361"/>
            <a:chOff x="0" y="0"/>
            <a:chExt cx="651149" cy="951148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651149" cy="951148"/>
            </a:xfrm>
            <a:custGeom>
              <a:avLst/>
              <a:gdLst/>
              <a:ahLst/>
              <a:cxnLst/>
              <a:rect r="r" b="b" t="t" l="l"/>
              <a:pathLst>
                <a:path h="951148" w="651149">
                  <a:moveTo>
                    <a:pt x="42366" y="0"/>
                  </a:moveTo>
                  <a:lnTo>
                    <a:pt x="608782" y="0"/>
                  </a:lnTo>
                  <a:cubicBezTo>
                    <a:pt x="632181" y="0"/>
                    <a:pt x="651149" y="18968"/>
                    <a:pt x="651149" y="42366"/>
                  </a:cubicBezTo>
                  <a:lnTo>
                    <a:pt x="651149" y="908781"/>
                  </a:lnTo>
                  <a:cubicBezTo>
                    <a:pt x="651149" y="920018"/>
                    <a:pt x="646685" y="930794"/>
                    <a:pt x="638740" y="938739"/>
                  </a:cubicBezTo>
                  <a:cubicBezTo>
                    <a:pt x="630795" y="946684"/>
                    <a:pt x="620019" y="951148"/>
                    <a:pt x="608782" y="951148"/>
                  </a:cubicBezTo>
                  <a:lnTo>
                    <a:pt x="42366" y="951148"/>
                  </a:lnTo>
                  <a:cubicBezTo>
                    <a:pt x="31130" y="951148"/>
                    <a:pt x="20354" y="946684"/>
                    <a:pt x="12409" y="938739"/>
                  </a:cubicBezTo>
                  <a:cubicBezTo>
                    <a:pt x="4464" y="930794"/>
                    <a:pt x="0" y="920018"/>
                    <a:pt x="0" y="908781"/>
                  </a:cubicBezTo>
                  <a:lnTo>
                    <a:pt x="0" y="42366"/>
                  </a:lnTo>
                  <a:cubicBezTo>
                    <a:pt x="0" y="31130"/>
                    <a:pt x="4464" y="20354"/>
                    <a:pt x="12409" y="12409"/>
                  </a:cubicBezTo>
                  <a:cubicBezTo>
                    <a:pt x="20354" y="4464"/>
                    <a:pt x="31130" y="0"/>
                    <a:pt x="42366" y="0"/>
                  </a:cubicBezTo>
                  <a:close/>
                </a:path>
              </a:pathLst>
            </a:custGeom>
            <a:solidFill>
              <a:srgbClr val="19347E"/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9284720" y="3558461"/>
            <a:ext cx="4202962" cy="6139361"/>
            <a:chOff x="0" y="0"/>
            <a:chExt cx="651149" cy="951148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651149" cy="951148"/>
            </a:xfrm>
            <a:custGeom>
              <a:avLst/>
              <a:gdLst/>
              <a:ahLst/>
              <a:cxnLst/>
              <a:rect r="r" b="b" t="t" l="l"/>
              <a:pathLst>
                <a:path h="951148" w="651149">
                  <a:moveTo>
                    <a:pt x="42366" y="0"/>
                  </a:moveTo>
                  <a:lnTo>
                    <a:pt x="608782" y="0"/>
                  </a:lnTo>
                  <a:cubicBezTo>
                    <a:pt x="632181" y="0"/>
                    <a:pt x="651149" y="18968"/>
                    <a:pt x="651149" y="42366"/>
                  </a:cubicBezTo>
                  <a:lnTo>
                    <a:pt x="651149" y="908781"/>
                  </a:lnTo>
                  <a:cubicBezTo>
                    <a:pt x="651149" y="920018"/>
                    <a:pt x="646685" y="930794"/>
                    <a:pt x="638740" y="938739"/>
                  </a:cubicBezTo>
                  <a:cubicBezTo>
                    <a:pt x="630795" y="946684"/>
                    <a:pt x="620019" y="951148"/>
                    <a:pt x="608782" y="951148"/>
                  </a:cubicBezTo>
                  <a:lnTo>
                    <a:pt x="42366" y="951148"/>
                  </a:lnTo>
                  <a:cubicBezTo>
                    <a:pt x="31130" y="951148"/>
                    <a:pt x="20354" y="946684"/>
                    <a:pt x="12409" y="938739"/>
                  </a:cubicBezTo>
                  <a:cubicBezTo>
                    <a:pt x="4464" y="930794"/>
                    <a:pt x="0" y="920018"/>
                    <a:pt x="0" y="908781"/>
                  </a:cubicBezTo>
                  <a:lnTo>
                    <a:pt x="0" y="42366"/>
                  </a:lnTo>
                  <a:cubicBezTo>
                    <a:pt x="0" y="31130"/>
                    <a:pt x="4464" y="20354"/>
                    <a:pt x="12409" y="12409"/>
                  </a:cubicBezTo>
                  <a:cubicBezTo>
                    <a:pt x="20354" y="4464"/>
                    <a:pt x="31130" y="0"/>
                    <a:pt x="42366" y="0"/>
                  </a:cubicBezTo>
                  <a:close/>
                </a:path>
              </a:pathLst>
            </a:custGeom>
            <a:solidFill>
              <a:srgbClr val="19347E"/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13773432" y="3558461"/>
            <a:ext cx="4202962" cy="6139361"/>
            <a:chOff x="0" y="0"/>
            <a:chExt cx="651149" cy="951148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651149" cy="951148"/>
            </a:xfrm>
            <a:custGeom>
              <a:avLst/>
              <a:gdLst/>
              <a:ahLst/>
              <a:cxnLst/>
              <a:rect r="r" b="b" t="t" l="l"/>
              <a:pathLst>
                <a:path h="951148" w="651149">
                  <a:moveTo>
                    <a:pt x="42366" y="0"/>
                  </a:moveTo>
                  <a:lnTo>
                    <a:pt x="608782" y="0"/>
                  </a:lnTo>
                  <a:cubicBezTo>
                    <a:pt x="632181" y="0"/>
                    <a:pt x="651149" y="18968"/>
                    <a:pt x="651149" y="42366"/>
                  </a:cubicBezTo>
                  <a:lnTo>
                    <a:pt x="651149" y="908781"/>
                  </a:lnTo>
                  <a:cubicBezTo>
                    <a:pt x="651149" y="920018"/>
                    <a:pt x="646685" y="930794"/>
                    <a:pt x="638740" y="938739"/>
                  </a:cubicBezTo>
                  <a:cubicBezTo>
                    <a:pt x="630795" y="946684"/>
                    <a:pt x="620019" y="951148"/>
                    <a:pt x="608782" y="951148"/>
                  </a:cubicBezTo>
                  <a:lnTo>
                    <a:pt x="42366" y="951148"/>
                  </a:lnTo>
                  <a:cubicBezTo>
                    <a:pt x="31130" y="951148"/>
                    <a:pt x="20354" y="946684"/>
                    <a:pt x="12409" y="938739"/>
                  </a:cubicBezTo>
                  <a:cubicBezTo>
                    <a:pt x="4464" y="930794"/>
                    <a:pt x="0" y="920018"/>
                    <a:pt x="0" y="908781"/>
                  </a:cubicBezTo>
                  <a:lnTo>
                    <a:pt x="0" y="42366"/>
                  </a:lnTo>
                  <a:cubicBezTo>
                    <a:pt x="0" y="31130"/>
                    <a:pt x="4464" y="20354"/>
                    <a:pt x="12409" y="12409"/>
                  </a:cubicBezTo>
                  <a:cubicBezTo>
                    <a:pt x="20354" y="4464"/>
                    <a:pt x="31130" y="0"/>
                    <a:pt x="42366" y="0"/>
                  </a:cubicBezTo>
                  <a:close/>
                </a:path>
              </a:pathLst>
            </a:custGeom>
            <a:solidFill>
              <a:srgbClr val="19347E"/>
            </a:solidFill>
          </p:spPr>
        </p:sp>
      </p:grpSp>
      <p:sp>
        <p:nvSpPr>
          <p:cNvPr name="Freeform 14" id="14"/>
          <p:cNvSpPr/>
          <p:nvPr/>
        </p:nvSpPr>
        <p:spPr>
          <a:xfrm flipH="false" flipV="false" rot="0">
            <a:off x="1155602" y="6827848"/>
            <a:ext cx="2011632" cy="2125524"/>
          </a:xfrm>
          <a:custGeom>
            <a:avLst/>
            <a:gdLst/>
            <a:ahLst/>
            <a:cxnLst/>
            <a:rect r="r" b="b" t="t" l="l"/>
            <a:pathLst>
              <a:path h="2125524" w="2011632">
                <a:moveTo>
                  <a:pt x="0" y="0"/>
                </a:moveTo>
                <a:lnTo>
                  <a:pt x="2011632" y="0"/>
                </a:lnTo>
                <a:lnTo>
                  <a:pt x="2011632" y="2125525"/>
                </a:lnTo>
                <a:lnTo>
                  <a:pt x="0" y="212552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5752859" y="7046644"/>
            <a:ext cx="1906729" cy="1906729"/>
          </a:xfrm>
          <a:custGeom>
            <a:avLst/>
            <a:gdLst/>
            <a:ahLst/>
            <a:cxnLst/>
            <a:rect r="r" b="b" t="t" l="l"/>
            <a:pathLst>
              <a:path h="1906729" w="1906729">
                <a:moveTo>
                  <a:pt x="0" y="0"/>
                </a:moveTo>
                <a:lnTo>
                  <a:pt x="1906728" y="0"/>
                </a:lnTo>
                <a:lnTo>
                  <a:pt x="1906728" y="1906729"/>
                </a:lnTo>
                <a:lnTo>
                  <a:pt x="0" y="1906729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10349117" y="6962924"/>
            <a:ext cx="2074168" cy="2074168"/>
          </a:xfrm>
          <a:custGeom>
            <a:avLst/>
            <a:gdLst/>
            <a:ahLst/>
            <a:cxnLst/>
            <a:rect r="r" b="b" t="t" l="l"/>
            <a:pathLst>
              <a:path h="2074168" w="2074168">
                <a:moveTo>
                  <a:pt x="0" y="0"/>
                </a:moveTo>
                <a:lnTo>
                  <a:pt x="2074168" y="0"/>
                </a:lnTo>
                <a:lnTo>
                  <a:pt x="2074168" y="2074168"/>
                </a:lnTo>
                <a:lnTo>
                  <a:pt x="0" y="2074168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7" id="17"/>
          <p:cNvSpPr txBox="true"/>
          <p:nvPr/>
        </p:nvSpPr>
        <p:spPr>
          <a:xfrm rot="0">
            <a:off x="16602837" y="9650197"/>
            <a:ext cx="366751" cy="3248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31"/>
              </a:lnSpc>
            </a:pPr>
            <a:r>
              <a:rPr lang="en-US" sz="1800">
                <a:solidFill>
                  <a:srgbClr val="888888"/>
                </a:solidFill>
                <a:latin typeface="Calibri (MS)"/>
                <a:ea typeface="Calibri (MS)"/>
                <a:cs typeface="Calibri (MS)"/>
                <a:sym typeface="Calibri (MS)"/>
              </a:rPr>
              <a:t>‹#›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666169" y="4183263"/>
            <a:ext cx="3980283" cy="4718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23"/>
              </a:lnSpc>
            </a:pPr>
            <a:r>
              <a:rPr lang="en-US" b="true" sz="2935">
                <a:solidFill>
                  <a:srgbClr val="FAD021"/>
                </a:solidFill>
                <a:latin typeface="Arimo Bold"/>
                <a:ea typeface="Arimo Bold"/>
                <a:cs typeface="Arimo Bold"/>
                <a:sym typeface="Arimo Bold"/>
              </a:rPr>
              <a:t>Process Deliveries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656644" y="4866183"/>
            <a:ext cx="3512887" cy="17619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23"/>
              </a:lnSpc>
            </a:pPr>
            <a:r>
              <a:rPr lang="en-US" sz="2097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Trigger scheduling cycles that dequeue orders, update history files, and free system memory.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713780" y="2244706"/>
            <a:ext cx="17027128" cy="857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480"/>
              </a:lnSpc>
            </a:pPr>
            <a:r>
              <a:rPr lang="en-US" b="true" sz="5400">
                <a:solidFill>
                  <a:srgbClr val="FAD021"/>
                </a:solidFill>
                <a:latin typeface="Arimo Bold"/>
                <a:ea typeface="Arimo Bold"/>
                <a:cs typeface="Arimo Bold"/>
                <a:sym typeface="Arimo Bold"/>
              </a:rPr>
              <a:t>Administrator Control Panel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5018687" y="4183263"/>
            <a:ext cx="3980283" cy="4718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23"/>
              </a:lnSpc>
            </a:pPr>
            <a:r>
              <a:rPr lang="en-US" b="true" sz="2935">
                <a:solidFill>
                  <a:srgbClr val="FAD021"/>
                </a:solidFill>
                <a:latin typeface="Arimo Bold"/>
                <a:ea typeface="Arimo Bold"/>
                <a:cs typeface="Arimo Bold"/>
                <a:sym typeface="Arimo Bold"/>
              </a:rPr>
              <a:t>Live Statistics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5018687" y="4807088"/>
            <a:ext cx="3790750" cy="16057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23"/>
              </a:lnSpc>
            </a:pPr>
            <a:r>
              <a:rPr lang="en-US" sz="2097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Monitor real-time system performance including total deliveries, total revenue, and average order value.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9627620" y="4183263"/>
            <a:ext cx="3980283" cy="4718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23"/>
              </a:lnSpc>
            </a:pPr>
            <a:r>
              <a:rPr lang="en-US" b="true" sz="2935">
                <a:solidFill>
                  <a:srgbClr val="FAD021"/>
                </a:solidFill>
                <a:latin typeface="Arimo Bold"/>
                <a:ea typeface="Arimo Bold"/>
                <a:cs typeface="Arimo Bold"/>
                <a:sym typeface="Arimo Bold"/>
              </a:rPr>
              <a:t>Order Cancellation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9627620" y="4807088"/>
            <a:ext cx="3790750" cy="16057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23"/>
              </a:lnSpc>
            </a:pPr>
            <a:r>
              <a:rPr lang="en-US" sz="2097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Efficiently remove orders by ID from any point in the queue while automatically restoring in-memory stock.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4236554" y="4183263"/>
            <a:ext cx="4203846" cy="9067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23"/>
              </a:lnSpc>
            </a:pPr>
            <a:r>
              <a:rPr lang="en-US" b="true" sz="2935">
                <a:solidFill>
                  <a:srgbClr val="FAD021"/>
                </a:solidFill>
                <a:latin typeface="Arimo Bold"/>
                <a:ea typeface="Arimo Bold"/>
                <a:cs typeface="Arimo Bold"/>
                <a:sym typeface="Arimo Bold"/>
              </a:rPr>
              <a:t>Liv</a:t>
            </a:r>
            <a:r>
              <a:rPr lang="en-US" b="true" sz="2935">
                <a:solidFill>
                  <a:srgbClr val="FAD021"/>
                </a:solidFill>
                <a:latin typeface="Arimo Bold"/>
                <a:ea typeface="Arimo Bold"/>
                <a:cs typeface="Arimo Bold"/>
                <a:sym typeface="Arimo Bold"/>
              </a:rPr>
              <a:t>e Catalogue Management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4236554" y="5358985"/>
            <a:ext cx="3318383" cy="35374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23"/>
              </a:lnSpc>
            </a:pPr>
            <a:r>
              <a:rPr lang="en-US" sz="2097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En</a:t>
            </a:r>
            <a:r>
              <a:rPr lang="en-US" sz="2097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ables administrators to restock items, dynamically inject new products using safe string inputs (fgets), or discontinue items by setting stock to 0 without invalidating pending order references. 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838325"/>
            <a:chOff x="0" y="0"/>
            <a:chExt cx="24384000" cy="24511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2451100"/>
            </a:xfrm>
            <a:custGeom>
              <a:avLst/>
              <a:gdLst/>
              <a:ahLst/>
              <a:cxnLst/>
              <a:rect r="r" b="b" t="t" l="l"/>
              <a:pathLst>
                <a:path h="24511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2451100"/>
                  </a:lnTo>
                  <a:lnTo>
                    <a:pt x="0" y="24511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sp>
        <p:nvSpPr>
          <p:cNvPr name="Freeform 4" id="4"/>
          <p:cNvSpPr/>
          <p:nvPr/>
        </p:nvSpPr>
        <p:spPr>
          <a:xfrm flipH="false" flipV="false" rot="0">
            <a:off x="422983" y="2699259"/>
            <a:ext cx="4467432" cy="6771150"/>
          </a:xfrm>
          <a:custGeom>
            <a:avLst/>
            <a:gdLst/>
            <a:ahLst/>
            <a:cxnLst/>
            <a:rect r="r" b="b" t="t" l="l"/>
            <a:pathLst>
              <a:path h="6771150" w="4467432">
                <a:moveTo>
                  <a:pt x="0" y="0"/>
                </a:moveTo>
                <a:lnTo>
                  <a:pt x="4467432" y="0"/>
                </a:lnTo>
                <a:lnTo>
                  <a:pt x="4467432" y="6771150"/>
                </a:lnTo>
                <a:lnTo>
                  <a:pt x="0" y="677115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5234083" y="6971513"/>
            <a:ext cx="7724584" cy="2459551"/>
          </a:xfrm>
          <a:custGeom>
            <a:avLst/>
            <a:gdLst/>
            <a:ahLst/>
            <a:cxnLst/>
            <a:rect r="r" b="b" t="t" l="l"/>
            <a:pathLst>
              <a:path h="2459551" w="7724584">
                <a:moveTo>
                  <a:pt x="0" y="0"/>
                </a:moveTo>
                <a:lnTo>
                  <a:pt x="7724584" y="0"/>
                </a:lnTo>
                <a:lnTo>
                  <a:pt x="7724584" y="2459551"/>
                </a:lnTo>
                <a:lnTo>
                  <a:pt x="0" y="245955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3175" t="0" r="-4513" b="-3574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3343856" y="6927557"/>
            <a:ext cx="4578606" cy="2503507"/>
          </a:xfrm>
          <a:custGeom>
            <a:avLst/>
            <a:gdLst/>
            <a:ahLst/>
            <a:cxnLst/>
            <a:rect r="r" b="b" t="t" l="l"/>
            <a:pathLst>
              <a:path h="2503507" w="4578606">
                <a:moveTo>
                  <a:pt x="0" y="0"/>
                </a:moveTo>
                <a:lnTo>
                  <a:pt x="4578606" y="0"/>
                </a:lnTo>
                <a:lnTo>
                  <a:pt x="4578606" y="2503507"/>
                </a:lnTo>
                <a:lnTo>
                  <a:pt x="0" y="2503507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5234083" y="2699259"/>
            <a:ext cx="9663259" cy="2555810"/>
          </a:xfrm>
          <a:custGeom>
            <a:avLst/>
            <a:gdLst/>
            <a:ahLst/>
            <a:cxnLst/>
            <a:rect r="r" b="b" t="t" l="l"/>
            <a:pathLst>
              <a:path h="2555810" w="9663259">
                <a:moveTo>
                  <a:pt x="0" y="0"/>
                </a:moveTo>
                <a:lnTo>
                  <a:pt x="9663259" y="0"/>
                </a:lnTo>
                <a:lnTo>
                  <a:pt x="9663259" y="2555810"/>
                </a:lnTo>
                <a:lnTo>
                  <a:pt x="0" y="255581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5427826" y="2832513"/>
            <a:ext cx="2289303" cy="2289303"/>
          </a:xfrm>
          <a:custGeom>
            <a:avLst/>
            <a:gdLst/>
            <a:ahLst/>
            <a:cxnLst/>
            <a:rect r="r" b="b" t="t" l="l"/>
            <a:pathLst>
              <a:path h="2289303" w="2289303">
                <a:moveTo>
                  <a:pt x="0" y="0"/>
                </a:moveTo>
                <a:lnTo>
                  <a:pt x="2289303" y="0"/>
                </a:lnTo>
                <a:lnTo>
                  <a:pt x="2289303" y="2289302"/>
                </a:lnTo>
                <a:lnTo>
                  <a:pt x="0" y="2289302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5471704" y="5698134"/>
            <a:ext cx="12816296" cy="7626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882"/>
              </a:lnSpc>
            </a:pPr>
            <a:r>
              <a:rPr lang="en-US" b="true" sz="4902">
                <a:solidFill>
                  <a:srgbClr val="19347E"/>
                </a:solidFill>
                <a:latin typeface="Arimo Bold"/>
                <a:ea typeface="Arimo Bold"/>
                <a:cs typeface="Arimo Bold"/>
                <a:sym typeface="Arimo Bold"/>
              </a:rPr>
              <a:t>Admin Panel </a:t>
            </a:r>
            <a:r>
              <a:rPr lang="en-US" b="true" sz="4902">
                <a:solidFill>
                  <a:srgbClr val="19347E"/>
                </a:solidFill>
                <a:latin typeface="Arimo Bold"/>
                <a:ea typeface="Arimo Bold"/>
                <a:cs typeface="Arimo Bold"/>
                <a:sym typeface="Arimo Bold"/>
              </a:rPr>
              <a:t>Output Snapshots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838325"/>
            <a:chOff x="0" y="0"/>
            <a:chExt cx="24384000" cy="24511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2451100"/>
            </a:xfrm>
            <a:custGeom>
              <a:avLst/>
              <a:gdLst/>
              <a:ahLst/>
              <a:cxnLst/>
              <a:rect r="r" b="b" t="t" l="l"/>
              <a:pathLst>
                <a:path h="24511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2451100"/>
                  </a:lnTo>
                  <a:lnTo>
                    <a:pt x="0" y="24511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graphicFrame>
        <p:nvGraphicFramePr>
          <p:cNvPr name="Table 4" id="4"/>
          <p:cNvGraphicFramePr>
            <a:graphicFrameLocks noGrp="true"/>
          </p:cNvGraphicFramePr>
          <p:nvPr/>
        </p:nvGraphicFramePr>
        <p:xfrm>
          <a:off x="813792" y="3678155"/>
          <a:ext cx="16535400" cy="5490210"/>
        </p:xfrm>
        <a:graphic>
          <a:graphicData uri="http://schemas.openxmlformats.org/drawingml/2006/table">
            <a:tbl>
              <a:tblPr/>
              <a:tblGrid>
                <a:gridCol w="2668951"/>
                <a:gridCol w="2597412"/>
                <a:gridCol w="11269037"/>
              </a:tblGrid>
              <a:tr h="97133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700"/>
                        </a:lnSpc>
                        <a:defRPr/>
                      </a:pPr>
                      <a:r>
                        <a:rPr lang="en-US" b="true" sz="2250">
                          <a:solidFill>
                            <a:srgbClr val="FFFFFF"/>
                          </a:solidFill>
                          <a:latin typeface="Arimo Bold"/>
                          <a:ea typeface="Arimo Bold"/>
                          <a:cs typeface="Arimo Bold"/>
                          <a:sym typeface="Arimo Bold"/>
                        </a:rPr>
                        <a:t>Stock Value</a:t>
                      </a:r>
                      <a:endParaRPr lang="en-US" sz="1100"/>
                    </a:p>
                  </a:txBody>
                  <a:tcPr marL="63500" marR="63500" marT="63500" marB="63500" anchor="ctr">
                    <a:lnL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700"/>
                        </a:lnSpc>
                        <a:defRPr/>
                      </a:pPr>
                      <a:r>
                        <a:rPr lang="en-US" b="true" sz="2250">
                          <a:solidFill>
                            <a:srgbClr val="FFFFFF"/>
                          </a:solidFill>
                          <a:latin typeface="Arimo Bold"/>
                          <a:ea typeface="Arimo Bold"/>
                          <a:cs typeface="Arimo Bold"/>
                          <a:sym typeface="Arimo Bold"/>
                        </a:rPr>
                        <a:t>Status</a:t>
                      </a:r>
                      <a:endParaRPr lang="en-US" sz="1100"/>
                    </a:p>
                  </a:txBody>
                  <a:tcPr marL="63500" marR="63500" marT="63500" marB="63500" anchor="ctr">
                    <a:lnL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700"/>
                        </a:lnSpc>
                        <a:defRPr/>
                      </a:pPr>
                      <a:r>
                        <a:rPr lang="en-US" b="true" sz="2250">
                          <a:solidFill>
                            <a:srgbClr val="FFFFFF"/>
                          </a:solidFill>
                          <a:latin typeface="Arimo Bold"/>
                          <a:ea typeface="Arimo Bold"/>
                          <a:cs typeface="Arimo Bold"/>
                          <a:sym typeface="Arimo Bold"/>
                        </a:rPr>
                        <a:t>Logic Applied</a:t>
                      </a:r>
                      <a:endParaRPr lang="en-US" sz="1100"/>
                    </a:p>
                  </a:txBody>
                  <a:tcPr marL="63500" marR="63500" marT="63500" marB="63500" anchor="ctr">
                    <a:lnL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</a:tr>
              <a:tr h="97133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700"/>
                        </a:lnSpc>
                        <a:defRPr/>
                      </a:pPr>
                      <a:r>
                        <a:rPr lang="en-US" sz="2250">
                          <a:solidFill>
                            <a:srgbClr val="19347E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-1</a:t>
                      </a:r>
                      <a:endParaRPr lang="en-US" sz="1100"/>
                    </a:p>
                  </a:txBody>
                  <a:tcPr marL="63500" marR="63500" marT="63500" marB="63500" anchor="ctr">
                    <a:lnL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7E7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700"/>
                        </a:lnSpc>
                        <a:defRPr/>
                      </a:pPr>
                      <a:r>
                        <a:rPr lang="en-US" sz="2250">
                          <a:solidFill>
                            <a:srgbClr val="19347E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Unlimited</a:t>
                      </a:r>
                      <a:endParaRPr lang="en-US" sz="1100"/>
                    </a:p>
                  </a:txBody>
                  <a:tcPr marL="63500" marR="63500" marT="63500" marB="63500" anchor="ctr">
                    <a:lnL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7E7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700"/>
                        </a:lnSpc>
                        <a:defRPr/>
                      </a:pPr>
                      <a:r>
                        <a:rPr lang="en-US" sz="2250">
                          <a:solidFill>
                            <a:srgbClr val="19347E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Bypasses stock decrement logic during order validation.</a:t>
                      </a:r>
                      <a:endParaRPr lang="en-US" sz="1100"/>
                    </a:p>
                  </a:txBody>
                  <a:tcPr marL="63500" marR="63500" marT="63500" marB="63500" anchor="ctr">
                    <a:lnL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7E7"/>
                    </a:solidFill>
                  </a:tcPr>
                </a:tc>
              </a:tr>
              <a:tr h="97133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700"/>
                        </a:lnSpc>
                        <a:defRPr/>
                      </a:pPr>
                      <a:r>
                        <a:rPr lang="en-US" sz="2250">
                          <a:solidFill>
                            <a:srgbClr val="19347E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0</a:t>
                      </a:r>
                      <a:endParaRPr lang="en-US" sz="1100"/>
                    </a:p>
                  </a:txBody>
                  <a:tcPr marL="63500" marR="63500" marT="63500" marB="63500" anchor="ctr">
                    <a:lnL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CF4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700"/>
                        </a:lnSpc>
                        <a:defRPr/>
                      </a:pPr>
                      <a:r>
                        <a:rPr lang="en-US" sz="2250">
                          <a:solidFill>
                            <a:srgbClr val="19347E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Unavailable</a:t>
                      </a:r>
                      <a:endParaRPr lang="en-US" sz="1100"/>
                    </a:p>
                  </a:txBody>
                  <a:tcPr marL="63500" marR="63500" marT="63500" marB="63500" anchor="ctr">
                    <a:lnL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CF4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700"/>
                        </a:lnSpc>
                        <a:defRPr/>
                      </a:pPr>
                      <a:r>
                        <a:rPr lang="en-US" sz="2250">
                          <a:solidFill>
                            <a:srgbClr val="19347E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Marked as [UNAVAILABLE] in the catalog; cannot be added to cart.</a:t>
                      </a:r>
                      <a:endParaRPr lang="en-US" sz="1100"/>
                    </a:p>
                  </a:txBody>
                  <a:tcPr marL="63500" marR="63500" marT="63500" marB="63500" anchor="ctr">
                    <a:lnL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CF4"/>
                    </a:solidFill>
                  </a:tcPr>
                </a:tc>
              </a:tr>
              <a:tr h="128811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700"/>
                        </a:lnSpc>
                        <a:defRPr/>
                      </a:pPr>
                      <a:r>
                        <a:rPr lang="en-US" sz="2250">
                          <a:solidFill>
                            <a:srgbClr val="19347E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&gt; 0</a:t>
                      </a:r>
                      <a:endParaRPr lang="en-US" sz="1100"/>
                    </a:p>
                  </a:txBody>
                  <a:tcPr marL="63500" marR="63500" marT="63500" marB="63500" anchor="ctr">
                    <a:lnL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7E7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700"/>
                        </a:lnSpc>
                        <a:defRPr/>
                      </a:pPr>
                      <a:r>
                        <a:rPr lang="en-US" sz="2250">
                          <a:solidFill>
                            <a:srgbClr val="19347E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Limited</a:t>
                      </a:r>
                      <a:endParaRPr lang="en-US" sz="1100"/>
                    </a:p>
                  </a:txBody>
                  <a:tcPr marL="63500" marR="63500" marT="63500" marB="63500" anchor="ctr">
                    <a:lnL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7E7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700"/>
                        </a:lnSpc>
                        <a:defRPr/>
                      </a:pPr>
                      <a:r>
                        <a:rPr lang="en-US" sz="2250">
                          <a:solidFill>
                            <a:srgbClr val="19347E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Limi</a:t>
                      </a:r>
                      <a:r>
                        <a:rPr lang="en-US" sz="2250">
                          <a:solidFill>
                            <a:srgbClr val="19347E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ted supply. Checked at add-to-cart time, then formally deducted using the centralized updateStock() function only when the checkout sequence successfully completes </a:t>
                      </a:r>
                      <a:endParaRPr lang="en-US" sz="1100"/>
                    </a:p>
                  </a:txBody>
                  <a:tcPr marL="63500" marR="63500" marT="63500" marB="63500" anchor="ctr">
                    <a:lnL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7E7"/>
                    </a:solidFill>
                  </a:tcPr>
                </a:tc>
              </a:tr>
              <a:tr h="128811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700"/>
                        </a:lnSpc>
                        <a:defRPr/>
                      </a:pPr>
                      <a:r>
                        <a:rPr lang="en-US" sz="2250">
                          <a:solidFill>
                            <a:srgbClr val="19347E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Restoration</a:t>
                      </a:r>
                      <a:endParaRPr lang="en-US" sz="1100"/>
                    </a:p>
                  </a:txBody>
                  <a:tcPr marL="63500" marR="63500" marT="63500" marB="63500" anchor="ctr">
                    <a:lnL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CF4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700"/>
                        </a:lnSpc>
                        <a:defRPr/>
                      </a:pPr>
                      <a:r>
                        <a:rPr lang="en-US" sz="2250">
                          <a:solidFill>
                            <a:srgbClr val="19347E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Automatic</a:t>
                      </a:r>
                      <a:endParaRPr lang="en-US" sz="1100"/>
                    </a:p>
                  </a:txBody>
                  <a:tcPr marL="63500" marR="63500" marT="63500" marB="63500" anchor="ctr">
                    <a:lnL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CF4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700"/>
                        </a:lnSpc>
                        <a:defRPr/>
                      </a:pPr>
                      <a:r>
                        <a:rPr lang="en-US" sz="2250">
                          <a:solidFill>
                            <a:srgbClr val="19347E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Auto</a:t>
                      </a:r>
                      <a:r>
                        <a:rPr lang="en-US" sz="2250">
                          <a:solidFill>
                            <a:srgbClr val="19347E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matic Restoration: When an order is removed by the admin, the system reads the embedded items[]snapshot inside that specific Order struct to precisely credit back quantities to the core catalogue array </a:t>
                      </a:r>
                      <a:endParaRPr lang="en-US" sz="1100"/>
                    </a:p>
                  </a:txBody>
                  <a:tcPr marL="63500" marR="63500" marT="63500" marB="63500" anchor="ctr">
                    <a:lnL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CF4"/>
                    </a:solidFill>
                  </a:tcPr>
                </a:tc>
              </a:tr>
            </a:tbl>
          </a:graphicData>
        </a:graphic>
      </p:graphicFrame>
      <p:sp>
        <p:nvSpPr>
          <p:cNvPr name="TextBox 5" id="5"/>
          <p:cNvSpPr txBox="true"/>
          <p:nvPr/>
        </p:nvSpPr>
        <p:spPr>
          <a:xfrm rot="0">
            <a:off x="1170980" y="2320157"/>
            <a:ext cx="17027128" cy="857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480"/>
              </a:lnSpc>
            </a:pPr>
            <a:r>
              <a:rPr lang="en-US" b="true" sz="5400">
                <a:solidFill>
                  <a:srgbClr val="FAD021"/>
                </a:solidFill>
                <a:latin typeface="Arimo Bold"/>
                <a:ea typeface="Arimo Bold"/>
                <a:cs typeface="Arimo Bold"/>
                <a:sym typeface="Arimo Bold"/>
              </a:rPr>
              <a:t>Stock Management Policy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813792" y="2348732"/>
            <a:ext cx="71438" cy="828675"/>
            <a:chOff x="0" y="0"/>
            <a:chExt cx="95250" cy="11049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95250" cy="1104900"/>
            </a:xfrm>
            <a:custGeom>
              <a:avLst/>
              <a:gdLst/>
              <a:ahLst/>
              <a:cxnLst/>
              <a:rect r="r" b="b" t="t" l="l"/>
              <a:pathLst>
                <a:path h="1104900" w="95250">
                  <a:moveTo>
                    <a:pt x="0" y="0"/>
                  </a:moveTo>
                  <a:lnTo>
                    <a:pt x="95250" y="0"/>
                  </a:lnTo>
                  <a:lnTo>
                    <a:pt x="95250" y="1104900"/>
                  </a:lnTo>
                  <a:lnTo>
                    <a:pt x="0" y="1104900"/>
                  </a:lnTo>
                  <a:close/>
                </a:path>
              </a:pathLst>
            </a:custGeom>
            <a:solidFill>
              <a:srgbClr val="19347E"/>
            </a:solidFill>
          </p:spPr>
        </p:sp>
      </p:grp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838325"/>
            <a:chOff x="0" y="0"/>
            <a:chExt cx="24384000" cy="24511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2451100"/>
            </a:xfrm>
            <a:custGeom>
              <a:avLst/>
              <a:gdLst/>
              <a:ahLst/>
              <a:cxnLst/>
              <a:rect r="r" b="b" t="t" l="l"/>
              <a:pathLst>
                <a:path h="24511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2451100"/>
                  </a:lnTo>
                  <a:lnTo>
                    <a:pt x="0" y="24511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sp>
        <p:nvSpPr>
          <p:cNvPr name="TextBox 4" id="4"/>
          <p:cNvSpPr txBox="true"/>
          <p:nvPr/>
        </p:nvSpPr>
        <p:spPr>
          <a:xfrm rot="0">
            <a:off x="16602837" y="9650197"/>
            <a:ext cx="366751" cy="3248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31"/>
              </a:lnSpc>
            </a:pPr>
            <a:r>
              <a:rPr lang="en-US" sz="1800">
                <a:solidFill>
                  <a:srgbClr val="888888"/>
                </a:solidFill>
                <a:latin typeface="Calibri (MS)"/>
                <a:ea typeface="Calibri (MS)"/>
                <a:cs typeface="Calibri (MS)"/>
                <a:sym typeface="Calibri (MS)"/>
              </a:rPr>
              <a:t>‹#›</a:t>
            </a:r>
          </a:p>
        </p:txBody>
      </p:sp>
      <p:grpSp>
        <p:nvGrpSpPr>
          <p:cNvPr name="Group 5" id="5"/>
          <p:cNvGrpSpPr/>
          <p:nvPr/>
        </p:nvGrpSpPr>
        <p:grpSpPr>
          <a:xfrm rot="0">
            <a:off x="1000125" y="3588153"/>
            <a:ext cx="9940018" cy="6248266"/>
            <a:chOff x="0" y="0"/>
            <a:chExt cx="11393135" cy="7161691"/>
          </a:xfrm>
        </p:grpSpPr>
        <p:sp>
          <p:nvSpPr>
            <p:cNvPr name="Freeform 6" id="6" descr="image.png"/>
            <p:cNvSpPr/>
            <p:nvPr/>
          </p:nvSpPr>
          <p:spPr>
            <a:xfrm flipH="false" flipV="false" rot="0">
              <a:off x="0" y="0"/>
              <a:ext cx="11393160" cy="7161692"/>
            </a:xfrm>
            <a:custGeom>
              <a:avLst/>
              <a:gdLst/>
              <a:ahLst/>
              <a:cxnLst/>
              <a:rect r="r" b="b" t="t" l="l"/>
              <a:pathLst>
                <a:path h="7161692" w="11393160">
                  <a:moveTo>
                    <a:pt x="167336" y="0"/>
                  </a:moveTo>
                  <a:lnTo>
                    <a:pt x="11225824" y="0"/>
                  </a:lnTo>
                  <a:cubicBezTo>
                    <a:pt x="11318241" y="0"/>
                    <a:pt x="11393160" y="74919"/>
                    <a:pt x="11393160" y="167336"/>
                  </a:cubicBezTo>
                  <a:lnTo>
                    <a:pt x="11393160" y="6994355"/>
                  </a:lnTo>
                  <a:cubicBezTo>
                    <a:pt x="11393160" y="7038735"/>
                    <a:pt x="11375530" y="7081298"/>
                    <a:pt x="11344149" y="7112680"/>
                  </a:cubicBezTo>
                  <a:cubicBezTo>
                    <a:pt x="11312767" y="7144062"/>
                    <a:pt x="11270204" y="7161692"/>
                    <a:pt x="11225824" y="7161692"/>
                  </a:cubicBezTo>
                  <a:lnTo>
                    <a:pt x="167336" y="7161692"/>
                  </a:lnTo>
                  <a:cubicBezTo>
                    <a:pt x="122956" y="7161692"/>
                    <a:pt x="80393" y="7144062"/>
                    <a:pt x="49012" y="7112680"/>
                  </a:cubicBezTo>
                  <a:cubicBezTo>
                    <a:pt x="17630" y="7081298"/>
                    <a:pt x="0" y="7038735"/>
                    <a:pt x="0" y="6994355"/>
                  </a:cubicBezTo>
                  <a:lnTo>
                    <a:pt x="0" y="167336"/>
                  </a:lnTo>
                  <a:cubicBezTo>
                    <a:pt x="0" y="122956"/>
                    <a:pt x="17630" y="80393"/>
                    <a:pt x="49012" y="49012"/>
                  </a:cubicBezTo>
                  <a:cubicBezTo>
                    <a:pt x="80393" y="17630"/>
                    <a:pt x="122956" y="0"/>
                    <a:pt x="167336" y="0"/>
                  </a:cubicBezTo>
                  <a:close/>
                </a:path>
              </a:pathLst>
            </a:custGeom>
            <a:solidFill>
              <a:srgbClr val="19347E"/>
            </a:solidFill>
          </p:spPr>
        </p:sp>
      </p:grpSp>
      <p:sp>
        <p:nvSpPr>
          <p:cNvPr name="TextBox 7" id="7"/>
          <p:cNvSpPr txBox="true"/>
          <p:nvPr/>
        </p:nvSpPr>
        <p:spPr>
          <a:xfrm rot="0">
            <a:off x="2183814" y="4135625"/>
            <a:ext cx="8062750" cy="14544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94"/>
              </a:lnSpc>
            </a:pPr>
            <a:r>
              <a:rPr lang="en-US" b="true" sz="2318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Daily History: </a:t>
            </a:r>
            <a:r>
              <a:rPr lang="en-US" sz="2318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Every successful delivery writes a structured line string formatted as: Order ID | Address | Total EUR into a date-stamped file (history/DD-MM-YYYY.txt)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2183814" y="5772150"/>
            <a:ext cx="8062750" cy="9638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94"/>
              </a:lnSpc>
            </a:pPr>
            <a:r>
              <a:rPr lang="en-US" b="true" sz="2318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Formatted Reports:</a:t>
            </a:r>
            <a:r>
              <a:rPr lang="en-US" sz="2318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 Export functionality generates structured daily summaries in the reports/ folder.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2183814" y="6890844"/>
            <a:ext cx="8062750" cy="9638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94"/>
              </a:lnSpc>
            </a:pPr>
            <a:r>
              <a:rPr lang="en-US" b="true" sz="2318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Admin Log:</a:t>
            </a:r>
            <a:r>
              <a:rPr lang="en-US" sz="2318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 Persistent audit trail of all login attempts and management actions.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2183814" y="8009538"/>
            <a:ext cx="8062750" cy="9638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94"/>
              </a:lnSpc>
            </a:pPr>
            <a:r>
              <a:rPr lang="en-US" b="true" sz="2318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Data Segregation:</a:t>
            </a:r>
            <a:r>
              <a:rPr lang="en-US" sz="2318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 Logical separation of data, logs, and history for better file management.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1595028" y="4325689"/>
            <a:ext cx="294393" cy="309113"/>
            <a:chOff x="0" y="0"/>
            <a:chExt cx="381000" cy="400050"/>
          </a:xfrm>
        </p:grpSpPr>
        <p:sp>
          <p:nvSpPr>
            <p:cNvPr name="Freeform 12" id="12" descr="image.png"/>
            <p:cNvSpPr/>
            <p:nvPr/>
          </p:nvSpPr>
          <p:spPr>
            <a:xfrm flipH="false" flipV="false" rot="0">
              <a:off x="0" y="0"/>
              <a:ext cx="381000" cy="400050"/>
            </a:xfrm>
            <a:custGeom>
              <a:avLst/>
              <a:gdLst/>
              <a:ahLst/>
              <a:cxnLst/>
              <a:rect r="r" b="b" t="t" l="l"/>
              <a:pathLst>
                <a:path h="400050" w="381000">
                  <a:moveTo>
                    <a:pt x="0" y="0"/>
                  </a:moveTo>
                  <a:lnTo>
                    <a:pt x="381000" y="0"/>
                  </a:lnTo>
                  <a:lnTo>
                    <a:pt x="381000" y="400050"/>
                  </a:lnTo>
                  <a:lnTo>
                    <a:pt x="0" y="4000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13" id="13"/>
          <p:cNvGrpSpPr/>
          <p:nvPr/>
        </p:nvGrpSpPr>
        <p:grpSpPr>
          <a:xfrm rot="0">
            <a:off x="1595028" y="5962213"/>
            <a:ext cx="338552" cy="309113"/>
            <a:chOff x="0" y="0"/>
            <a:chExt cx="438150" cy="400050"/>
          </a:xfrm>
        </p:grpSpPr>
        <p:sp>
          <p:nvSpPr>
            <p:cNvPr name="Freeform 14" id="14" descr="image.png"/>
            <p:cNvSpPr/>
            <p:nvPr/>
          </p:nvSpPr>
          <p:spPr>
            <a:xfrm flipH="false" flipV="false" rot="0">
              <a:off x="0" y="0"/>
              <a:ext cx="438150" cy="400050"/>
            </a:xfrm>
            <a:custGeom>
              <a:avLst/>
              <a:gdLst/>
              <a:ahLst/>
              <a:cxnLst/>
              <a:rect r="r" b="b" t="t" l="l"/>
              <a:pathLst>
                <a:path h="400050" w="438150">
                  <a:moveTo>
                    <a:pt x="0" y="0"/>
                  </a:moveTo>
                  <a:lnTo>
                    <a:pt x="438150" y="0"/>
                  </a:lnTo>
                  <a:lnTo>
                    <a:pt x="438150" y="400050"/>
                  </a:lnTo>
                  <a:lnTo>
                    <a:pt x="0" y="4000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grpSp>
        <p:nvGrpSpPr>
          <p:cNvPr name="Group 15" id="15"/>
          <p:cNvGrpSpPr/>
          <p:nvPr/>
        </p:nvGrpSpPr>
        <p:grpSpPr>
          <a:xfrm rot="0">
            <a:off x="1595028" y="7080907"/>
            <a:ext cx="294393" cy="309113"/>
            <a:chOff x="0" y="0"/>
            <a:chExt cx="381000" cy="400050"/>
          </a:xfrm>
        </p:grpSpPr>
        <p:sp>
          <p:nvSpPr>
            <p:cNvPr name="Freeform 16" id="16" descr="image.png"/>
            <p:cNvSpPr/>
            <p:nvPr/>
          </p:nvSpPr>
          <p:spPr>
            <a:xfrm flipH="false" flipV="false" rot="0">
              <a:off x="0" y="0"/>
              <a:ext cx="381000" cy="400050"/>
            </a:xfrm>
            <a:custGeom>
              <a:avLst/>
              <a:gdLst/>
              <a:ahLst/>
              <a:cxnLst/>
              <a:rect r="r" b="b" t="t" l="l"/>
              <a:pathLst>
                <a:path h="400050" w="381000">
                  <a:moveTo>
                    <a:pt x="0" y="0"/>
                  </a:moveTo>
                  <a:lnTo>
                    <a:pt x="381000" y="0"/>
                  </a:lnTo>
                  <a:lnTo>
                    <a:pt x="381000" y="400050"/>
                  </a:lnTo>
                  <a:lnTo>
                    <a:pt x="0" y="4000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</p:grpSp>
      <p:grpSp>
        <p:nvGrpSpPr>
          <p:cNvPr name="Group 17" id="17"/>
          <p:cNvGrpSpPr/>
          <p:nvPr/>
        </p:nvGrpSpPr>
        <p:grpSpPr>
          <a:xfrm rot="0">
            <a:off x="1595028" y="8199601"/>
            <a:ext cx="338552" cy="309113"/>
            <a:chOff x="0" y="0"/>
            <a:chExt cx="438150" cy="400050"/>
          </a:xfrm>
        </p:grpSpPr>
        <p:sp>
          <p:nvSpPr>
            <p:cNvPr name="Freeform 18" id="18" descr="image.png"/>
            <p:cNvSpPr/>
            <p:nvPr/>
          </p:nvSpPr>
          <p:spPr>
            <a:xfrm flipH="false" flipV="false" rot="0">
              <a:off x="0" y="0"/>
              <a:ext cx="438150" cy="400050"/>
            </a:xfrm>
            <a:custGeom>
              <a:avLst/>
              <a:gdLst/>
              <a:ahLst/>
              <a:cxnLst/>
              <a:rect r="r" b="b" t="t" l="l"/>
              <a:pathLst>
                <a:path h="400050" w="438150">
                  <a:moveTo>
                    <a:pt x="0" y="0"/>
                  </a:moveTo>
                  <a:lnTo>
                    <a:pt x="438150" y="0"/>
                  </a:lnTo>
                  <a:lnTo>
                    <a:pt x="438150" y="400050"/>
                  </a:lnTo>
                  <a:lnTo>
                    <a:pt x="0" y="4000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0" b="0"/>
              </a:stretch>
            </a:blipFill>
          </p:spPr>
        </p:sp>
      </p:grpSp>
      <p:sp>
        <p:nvSpPr>
          <p:cNvPr name="TextBox 19" id="19"/>
          <p:cNvSpPr txBox="true"/>
          <p:nvPr/>
        </p:nvSpPr>
        <p:spPr>
          <a:xfrm rot="0">
            <a:off x="1309278" y="2445485"/>
            <a:ext cx="14737310" cy="7458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608"/>
              </a:lnSpc>
            </a:pPr>
            <a:r>
              <a:rPr lang="en-US" b="true" sz="4673">
                <a:solidFill>
                  <a:srgbClr val="FAD021"/>
                </a:solidFill>
                <a:latin typeface="Arimo Bold"/>
                <a:ea typeface="Arimo Bold"/>
                <a:cs typeface="Arimo Bold"/>
                <a:sym typeface="Arimo Bold"/>
              </a:rPr>
              <a:t>Auditing &amp; Reporting</a:t>
            </a:r>
          </a:p>
        </p:txBody>
      </p:sp>
      <p:grpSp>
        <p:nvGrpSpPr>
          <p:cNvPr name="Group 20" id="20"/>
          <p:cNvGrpSpPr/>
          <p:nvPr/>
        </p:nvGrpSpPr>
        <p:grpSpPr>
          <a:xfrm rot="0">
            <a:off x="1000125" y="2474060"/>
            <a:ext cx="61831" cy="717234"/>
            <a:chOff x="0" y="0"/>
            <a:chExt cx="95250" cy="110490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95250" cy="1104900"/>
            </a:xfrm>
            <a:custGeom>
              <a:avLst/>
              <a:gdLst/>
              <a:ahLst/>
              <a:cxnLst/>
              <a:rect r="r" b="b" t="t" l="l"/>
              <a:pathLst>
                <a:path h="1104900" w="95250">
                  <a:moveTo>
                    <a:pt x="0" y="0"/>
                  </a:moveTo>
                  <a:lnTo>
                    <a:pt x="95250" y="0"/>
                  </a:lnTo>
                  <a:lnTo>
                    <a:pt x="95250" y="1104900"/>
                  </a:lnTo>
                  <a:lnTo>
                    <a:pt x="0" y="1104900"/>
                  </a:lnTo>
                  <a:close/>
                </a:path>
              </a:pathLst>
            </a:custGeom>
            <a:solidFill>
              <a:srgbClr val="19347E"/>
            </a:solidFill>
          </p:spPr>
        </p:sp>
      </p:grpSp>
      <p:sp>
        <p:nvSpPr>
          <p:cNvPr name="Freeform 22" id="22" descr="image.png"/>
          <p:cNvSpPr/>
          <p:nvPr/>
        </p:nvSpPr>
        <p:spPr>
          <a:xfrm flipH="false" flipV="false" rot="0">
            <a:off x="10940143" y="1838325"/>
            <a:ext cx="7347857" cy="8229600"/>
          </a:xfrm>
          <a:custGeom>
            <a:avLst/>
            <a:gdLst/>
            <a:ahLst/>
            <a:cxnLst/>
            <a:rect r="r" b="b" t="t" l="l"/>
            <a:pathLst>
              <a:path h="8229600" w="7347857">
                <a:moveTo>
                  <a:pt x="0" y="0"/>
                </a:moveTo>
                <a:lnTo>
                  <a:pt x="7347857" y="0"/>
                </a:lnTo>
                <a:lnTo>
                  <a:pt x="7347857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838325"/>
            <a:chOff x="0" y="0"/>
            <a:chExt cx="24384000" cy="24511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2451100"/>
            </a:xfrm>
            <a:custGeom>
              <a:avLst/>
              <a:gdLst/>
              <a:ahLst/>
              <a:cxnLst/>
              <a:rect r="r" b="b" t="t" l="l"/>
              <a:pathLst>
                <a:path h="24511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2451100"/>
                  </a:lnTo>
                  <a:lnTo>
                    <a:pt x="0" y="24511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579387" y="2327983"/>
            <a:ext cx="71438" cy="828675"/>
            <a:chOff x="0" y="0"/>
            <a:chExt cx="95250" cy="11049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95250" cy="1104900"/>
            </a:xfrm>
            <a:custGeom>
              <a:avLst/>
              <a:gdLst/>
              <a:ahLst/>
              <a:cxnLst/>
              <a:rect r="r" b="b" t="t" l="l"/>
              <a:pathLst>
                <a:path h="1104900" w="95250">
                  <a:moveTo>
                    <a:pt x="0" y="0"/>
                  </a:moveTo>
                  <a:lnTo>
                    <a:pt x="95250" y="0"/>
                  </a:lnTo>
                  <a:lnTo>
                    <a:pt x="95250" y="1104900"/>
                  </a:lnTo>
                  <a:lnTo>
                    <a:pt x="0" y="1104900"/>
                  </a:lnTo>
                  <a:close/>
                </a:path>
              </a:pathLst>
            </a:custGeom>
            <a:solidFill>
              <a:srgbClr val="19347E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579387" y="3510607"/>
            <a:ext cx="10704156" cy="6325813"/>
            <a:chOff x="0" y="0"/>
            <a:chExt cx="11802747" cy="6975045"/>
          </a:xfrm>
        </p:grpSpPr>
        <p:sp>
          <p:nvSpPr>
            <p:cNvPr name="Freeform 7" id="7" descr="image.png"/>
            <p:cNvSpPr/>
            <p:nvPr/>
          </p:nvSpPr>
          <p:spPr>
            <a:xfrm flipH="false" flipV="false" rot="0">
              <a:off x="0" y="0"/>
              <a:ext cx="11802773" cy="6975045"/>
            </a:xfrm>
            <a:custGeom>
              <a:avLst/>
              <a:gdLst/>
              <a:ahLst/>
              <a:cxnLst/>
              <a:rect r="r" b="b" t="t" l="l"/>
              <a:pathLst>
                <a:path h="6975045" w="11802773">
                  <a:moveTo>
                    <a:pt x="155391" y="0"/>
                  </a:moveTo>
                  <a:lnTo>
                    <a:pt x="11647382" y="0"/>
                  </a:lnTo>
                  <a:cubicBezTo>
                    <a:pt x="11733202" y="0"/>
                    <a:pt x="11802773" y="69571"/>
                    <a:pt x="11802773" y="155391"/>
                  </a:cubicBezTo>
                  <a:lnTo>
                    <a:pt x="11802773" y="6819654"/>
                  </a:lnTo>
                  <a:cubicBezTo>
                    <a:pt x="11802773" y="6860866"/>
                    <a:pt x="11786402" y="6900390"/>
                    <a:pt x="11757260" y="6929532"/>
                  </a:cubicBezTo>
                  <a:cubicBezTo>
                    <a:pt x="11728118" y="6958674"/>
                    <a:pt x="11688594" y="6975045"/>
                    <a:pt x="11647382" y="6975045"/>
                  </a:cubicBezTo>
                  <a:lnTo>
                    <a:pt x="155391" y="6975045"/>
                  </a:lnTo>
                  <a:cubicBezTo>
                    <a:pt x="69571" y="6975045"/>
                    <a:pt x="0" y="6905474"/>
                    <a:pt x="0" y="6819654"/>
                  </a:cubicBezTo>
                  <a:lnTo>
                    <a:pt x="0" y="155391"/>
                  </a:lnTo>
                  <a:cubicBezTo>
                    <a:pt x="0" y="69571"/>
                    <a:pt x="69571" y="0"/>
                    <a:pt x="155391" y="0"/>
                  </a:cubicBezTo>
                  <a:close/>
                </a:path>
              </a:pathLst>
            </a:custGeom>
            <a:solidFill>
              <a:srgbClr val="19347E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1121076" y="4066085"/>
            <a:ext cx="499583" cy="411662"/>
            <a:chOff x="0" y="0"/>
            <a:chExt cx="485490" cy="400050"/>
          </a:xfrm>
        </p:grpSpPr>
        <p:sp>
          <p:nvSpPr>
            <p:cNvPr name="Freeform 9" id="9" descr="image.png"/>
            <p:cNvSpPr/>
            <p:nvPr/>
          </p:nvSpPr>
          <p:spPr>
            <a:xfrm flipH="false" flipV="false" rot="0">
              <a:off x="0" y="0"/>
              <a:ext cx="485490" cy="400050"/>
            </a:xfrm>
            <a:custGeom>
              <a:avLst/>
              <a:gdLst/>
              <a:ahLst/>
              <a:cxnLst/>
              <a:rect r="r" b="b" t="t" l="l"/>
              <a:pathLst>
                <a:path h="400050" w="485490">
                  <a:moveTo>
                    <a:pt x="0" y="0"/>
                  </a:moveTo>
                  <a:lnTo>
                    <a:pt x="485490" y="0"/>
                  </a:lnTo>
                  <a:lnTo>
                    <a:pt x="485490" y="400050"/>
                  </a:lnTo>
                  <a:lnTo>
                    <a:pt x="0" y="4000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970" r="0" b="-970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1171034" y="5916238"/>
            <a:ext cx="399666" cy="411662"/>
            <a:chOff x="0" y="0"/>
            <a:chExt cx="388392" cy="400050"/>
          </a:xfrm>
        </p:grpSpPr>
        <p:sp>
          <p:nvSpPr>
            <p:cNvPr name="Freeform 11" id="11" descr="image.png"/>
            <p:cNvSpPr/>
            <p:nvPr/>
          </p:nvSpPr>
          <p:spPr>
            <a:xfrm flipH="false" flipV="false" rot="0">
              <a:off x="0" y="0"/>
              <a:ext cx="388392" cy="400050"/>
            </a:xfrm>
            <a:custGeom>
              <a:avLst/>
              <a:gdLst/>
              <a:ahLst/>
              <a:cxnLst/>
              <a:rect r="r" b="b" t="t" l="l"/>
              <a:pathLst>
                <a:path h="400050" w="388392">
                  <a:moveTo>
                    <a:pt x="0" y="0"/>
                  </a:moveTo>
                  <a:lnTo>
                    <a:pt x="388392" y="0"/>
                  </a:lnTo>
                  <a:lnTo>
                    <a:pt x="388392" y="400050"/>
                  </a:lnTo>
                  <a:lnTo>
                    <a:pt x="0" y="4000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-970" r="0" b="-970"/>
              </a:stretch>
            </a:blip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1171034" y="7940183"/>
            <a:ext cx="459616" cy="411662"/>
            <a:chOff x="0" y="0"/>
            <a:chExt cx="446651" cy="400050"/>
          </a:xfrm>
        </p:grpSpPr>
        <p:sp>
          <p:nvSpPr>
            <p:cNvPr name="Freeform 13" id="13" descr="image.png"/>
            <p:cNvSpPr/>
            <p:nvPr/>
          </p:nvSpPr>
          <p:spPr>
            <a:xfrm flipH="false" flipV="false" rot="0">
              <a:off x="0" y="0"/>
              <a:ext cx="446651" cy="400050"/>
            </a:xfrm>
            <a:custGeom>
              <a:avLst/>
              <a:gdLst/>
              <a:ahLst/>
              <a:cxnLst/>
              <a:rect r="r" b="b" t="t" l="l"/>
              <a:pathLst>
                <a:path h="400050" w="446651">
                  <a:moveTo>
                    <a:pt x="0" y="0"/>
                  </a:moveTo>
                  <a:lnTo>
                    <a:pt x="446651" y="0"/>
                  </a:lnTo>
                  <a:lnTo>
                    <a:pt x="446651" y="400050"/>
                  </a:lnTo>
                  <a:lnTo>
                    <a:pt x="0" y="4000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-970" r="0" b="-970"/>
              </a:stretch>
            </a:blipFill>
          </p:spPr>
        </p:sp>
      </p:grpSp>
      <p:sp>
        <p:nvSpPr>
          <p:cNvPr name="Freeform 14" id="14"/>
          <p:cNvSpPr/>
          <p:nvPr/>
        </p:nvSpPr>
        <p:spPr>
          <a:xfrm flipH="false" flipV="false" rot="0">
            <a:off x="11835993" y="4462416"/>
            <a:ext cx="5926892" cy="5301875"/>
          </a:xfrm>
          <a:custGeom>
            <a:avLst/>
            <a:gdLst/>
            <a:ahLst/>
            <a:cxnLst/>
            <a:rect r="r" b="b" t="t" l="l"/>
            <a:pathLst>
              <a:path h="5301875" w="5926892">
                <a:moveTo>
                  <a:pt x="0" y="0"/>
                </a:moveTo>
                <a:lnTo>
                  <a:pt x="5926892" y="0"/>
                </a:lnTo>
                <a:lnTo>
                  <a:pt x="5926892" y="5301874"/>
                </a:lnTo>
                <a:lnTo>
                  <a:pt x="0" y="5301874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13517264" y="5021817"/>
            <a:ext cx="2564350" cy="2578415"/>
          </a:xfrm>
          <a:custGeom>
            <a:avLst/>
            <a:gdLst/>
            <a:ahLst/>
            <a:cxnLst/>
            <a:rect r="r" b="b" t="t" l="l"/>
            <a:pathLst>
              <a:path h="2578415" w="2564350">
                <a:moveTo>
                  <a:pt x="0" y="0"/>
                </a:moveTo>
                <a:lnTo>
                  <a:pt x="2564351" y="0"/>
                </a:lnTo>
                <a:lnTo>
                  <a:pt x="2564351" y="2578414"/>
                </a:lnTo>
                <a:lnTo>
                  <a:pt x="0" y="2578414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6" id="16"/>
          <p:cNvSpPr txBox="true"/>
          <p:nvPr/>
        </p:nvSpPr>
        <p:spPr>
          <a:xfrm rot="0">
            <a:off x="936575" y="2299408"/>
            <a:ext cx="7425928" cy="857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480"/>
              </a:lnSpc>
            </a:pPr>
            <a:r>
              <a:rPr lang="en-US" b="true" sz="5400">
                <a:solidFill>
                  <a:srgbClr val="FAD021"/>
                </a:solidFill>
                <a:latin typeface="Arimo Bold"/>
                <a:ea typeface="Arimo Bold"/>
                <a:cs typeface="Arimo Bold"/>
                <a:sym typeface="Arimo Bold"/>
              </a:rPr>
              <a:t>Technical Decisions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907069" y="3904160"/>
            <a:ext cx="8877170" cy="16538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21"/>
              </a:lnSpc>
            </a:pPr>
            <a:r>
              <a:rPr lang="en-US" b="true" sz="2632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Modularity:</a:t>
            </a:r>
            <a:r>
              <a:rPr lang="en-US" sz="2632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 Decoupled architecture utilizing centralized helper modules (e.g., utils.c for flushInput) to eliminate duplicate code blocks across profiles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921719" y="5773363"/>
            <a:ext cx="8862521" cy="16538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21"/>
              </a:lnSpc>
            </a:pPr>
            <a:r>
              <a:rPr lang="en-US" b="true" sz="2632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Efficiency:</a:t>
            </a:r>
            <a:r>
              <a:rPr lang="en-US" sz="2632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 O(1) lookups using a flat array layout to handle a fixed-capacity catalogue (max 100 products), avoiding dynamic realloc overhead and structural complexity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921719" y="7693891"/>
            <a:ext cx="8862521" cy="16538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21"/>
              </a:lnSpc>
            </a:pPr>
            <a:r>
              <a:rPr lang="en-US" b="true" sz="2632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Dynamic Scaling:</a:t>
            </a:r>
            <a:r>
              <a:rPr lang="en-US" sz="2632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 Intrusive singly-linked list implementations embed pointers directly within records, cutting heap-allocation requests in half per order.</a:t>
            </a:r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838325"/>
            <a:chOff x="0" y="0"/>
            <a:chExt cx="24384000" cy="24511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2451100"/>
            </a:xfrm>
            <a:custGeom>
              <a:avLst/>
              <a:gdLst/>
              <a:ahLst/>
              <a:cxnLst/>
              <a:rect r="r" b="b" t="t" l="l"/>
              <a:pathLst>
                <a:path h="24511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2451100"/>
                  </a:lnTo>
                  <a:lnTo>
                    <a:pt x="0" y="24511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sp>
        <p:nvSpPr>
          <p:cNvPr name="TextBox 4" id="4"/>
          <p:cNvSpPr txBox="true"/>
          <p:nvPr/>
        </p:nvSpPr>
        <p:spPr>
          <a:xfrm rot="0">
            <a:off x="16602837" y="9650197"/>
            <a:ext cx="366751" cy="3248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31"/>
              </a:lnSpc>
            </a:pPr>
            <a:r>
              <a:rPr lang="en-US" sz="1800">
                <a:solidFill>
                  <a:srgbClr val="888888"/>
                </a:solidFill>
                <a:latin typeface="Calibri (MS)"/>
                <a:ea typeface="Calibri (MS)"/>
                <a:cs typeface="Calibri (MS)"/>
                <a:sym typeface="Calibri (MS)"/>
              </a:rPr>
              <a:t>‹#›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3794027" y="2494250"/>
            <a:ext cx="10699947" cy="8327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759"/>
              </a:lnSpc>
            </a:pPr>
            <a:r>
              <a:rPr lang="en-US" sz="48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Conclusion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1028700" y="3982974"/>
            <a:ext cx="16230600" cy="5714848"/>
            <a:chOff x="0" y="0"/>
            <a:chExt cx="19693346" cy="6934092"/>
          </a:xfrm>
        </p:grpSpPr>
        <p:sp>
          <p:nvSpPr>
            <p:cNvPr name="Freeform 7" id="7" descr="image.png"/>
            <p:cNvSpPr/>
            <p:nvPr/>
          </p:nvSpPr>
          <p:spPr>
            <a:xfrm flipH="false" flipV="false" rot="0">
              <a:off x="0" y="0"/>
              <a:ext cx="19693372" cy="6934092"/>
            </a:xfrm>
            <a:custGeom>
              <a:avLst/>
              <a:gdLst/>
              <a:ahLst/>
              <a:cxnLst/>
              <a:rect r="r" b="b" t="t" l="l"/>
              <a:pathLst>
                <a:path h="6934092" w="19693372">
                  <a:moveTo>
                    <a:pt x="0" y="0"/>
                  </a:moveTo>
                  <a:lnTo>
                    <a:pt x="19693372" y="0"/>
                  </a:lnTo>
                  <a:lnTo>
                    <a:pt x="19693372" y="6934092"/>
                  </a:lnTo>
                  <a:lnTo>
                    <a:pt x="0" y="693409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347E"/>
            </a:solidFill>
          </p:spPr>
        </p:sp>
      </p:grpSp>
      <p:sp>
        <p:nvSpPr>
          <p:cNvPr name="TextBox 8" id="8"/>
          <p:cNvSpPr txBox="true"/>
          <p:nvPr/>
        </p:nvSpPr>
        <p:spPr>
          <a:xfrm rot="0">
            <a:off x="1435733" y="4193691"/>
            <a:ext cx="14690886" cy="52442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52750" indent="-226375" lvl="1">
              <a:lnSpc>
                <a:spcPts val="3523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2097" strike="noStrike" u="none">
                <a:solidFill>
                  <a:srgbClr val="FAD021"/>
                </a:solidFill>
                <a:latin typeface="Arimo Bold"/>
                <a:ea typeface="Arimo Bold"/>
                <a:cs typeface="Arimo Bold"/>
                <a:sym typeface="Arimo Bold"/>
              </a:rPr>
              <a:t>Robust Architecture:</a:t>
            </a:r>
            <a:r>
              <a:rPr lang="en-US" sz="2097" strike="noStrike" u="none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 Successfully built a modular, dual-profile CLI application in C that isolates the implementations of product, order, customer, and administrator models. </a:t>
            </a:r>
          </a:p>
          <a:p>
            <a:pPr algn="l">
              <a:lnSpc>
                <a:spcPts val="3523"/>
              </a:lnSpc>
              <a:spcBef>
                <a:spcPct val="0"/>
              </a:spcBef>
            </a:pPr>
          </a:p>
          <a:p>
            <a:pPr algn="l" marL="452750" indent="-226375" lvl="1">
              <a:lnSpc>
                <a:spcPts val="3523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2097" strike="noStrike" u="none">
                <a:solidFill>
                  <a:srgbClr val="FAD021"/>
                </a:solidFill>
                <a:latin typeface="Arimo Bold"/>
                <a:ea typeface="Arimo Bold"/>
                <a:cs typeface="Arimo Bold"/>
                <a:sym typeface="Arimo Bold"/>
              </a:rPr>
              <a:t>Algorithmic Integrity:</a:t>
            </a:r>
            <a:r>
              <a:rPr lang="en-US" sz="2097" strike="noStrike" u="none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 Implemented an exact First-In, First-Out (FIFO) linked list scheduling system executing the requested 2 (HIGH) ---&gt; 1(NORMAL) priority interleaving engine.</a:t>
            </a:r>
          </a:p>
          <a:p>
            <a:pPr algn="l">
              <a:lnSpc>
                <a:spcPts val="3523"/>
              </a:lnSpc>
              <a:spcBef>
                <a:spcPct val="0"/>
              </a:spcBef>
            </a:pPr>
          </a:p>
          <a:p>
            <a:pPr algn="l" marL="452750" indent="-226375" lvl="1">
              <a:lnSpc>
                <a:spcPts val="3523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2097" strike="noStrike" u="none">
                <a:solidFill>
                  <a:srgbClr val="FAD021"/>
                </a:solidFill>
                <a:latin typeface="Arimo Bold"/>
                <a:ea typeface="Arimo Bold"/>
                <a:cs typeface="Arimo Bold"/>
                <a:sym typeface="Arimo Bold"/>
              </a:rPr>
              <a:t>Resource and Memory Discipline:</a:t>
            </a:r>
            <a:r>
              <a:rPr lang="en-US" sz="2097" strike="noStrike" u="none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 Maintained strict O(1) product catalog indexing alongside dynamically allocated order allocations that are safely freed from memory upon fulfillment. </a:t>
            </a:r>
          </a:p>
          <a:p>
            <a:pPr algn="l">
              <a:lnSpc>
                <a:spcPts val="3523"/>
              </a:lnSpc>
              <a:spcBef>
                <a:spcPct val="0"/>
              </a:spcBef>
            </a:pPr>
          </a:p>
          <a:p>
            <a:pPr algn="l" marL="452750" indent="-226375" lvl="1">
              <a:lnSpc>
                <a:spcPts val="3523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2097" strike="noStrike" u="none">
                <a:solidFill>
                  <a:srgbClr val="FAD021"/>
                </a:solidFill>
                <a:latin typeface="Arimo Bold"/>
                <a:ea typeface="Arimo Bold"/>
                <a:cs typeface="Arimo Bold"/>
                <a:sym typeface="Arimo Bold"/>
              </a:rPr>
              <a:t>Data Security &amp; Validation:</a:t>
            </a:r>
            <a:r>
              <a:rPr lang="en-US" sz="2097" strike="noStrike" u="none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 Integrated runtime stock boundaries, dynamic queue rebuilds for order cancellations with stock restoration, and password protection with exhaustive system logging. </a:t>
            </a:r>
          </a:p>
          <a:p>
            <a:pPr algn="l">
              <a:lnSpc>
                <a:spcPts val="3523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838325"/>
            <a:chOff x="0" y="0"/>
            <a:chExt cx="24384000" cy="24511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2451100"/>
            </a:xfrm>
            <a:custGeom>
              <a:avLst/>
              <a:gdLst/>
              <a:ahLst/>
              <a:cxnLst/>
              <a:rect r="r" b="b" t="t" l="l"/>
              <a:pathLst>
                <a:path h="24511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2451100"/>
                  </a:lnTo>
                  <a:lnTo>
                    <a:pt x="0" y="24511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sp>
        <p:nvSpPr>
          <p:cNvPr name="TextBox 4" id="4"/>
          <p:cNvSpPr txBox="true"/>
          <p:nvPr/>
        </p:nvSpPr>
        <p:spPr>
          <a:xfrm rot="0">
            <a:off x="16602837" y="9650197"/>
            <a:ext cx="366751" cy="3248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31"/>
              </a:lnSpc>
            </a:pPr>
            <a:r>
              <a:rPr lang="en-US" sz="1800">
                <a:solidFill>
                  <a:srgbClr val="888888"/>
                </a:solidFill>
                <a:latin typeface="Calibri (MS)"/>
                <a:ea typeface="Calibri (MS)"/>
                <a:cs typeface="Calibri (MS)"/>
                <a:sym typeface="Calibri (MS)"/>
              </a:rPr>
              <a:t>‹#›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2381080" y="5152724"/>
            <a:ext cx="13525841" cy="16601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3267"/>
              </a:lnSpc>
              <a:spcBef>
                <a:spcPct val="0"/>
              </a:spcBef>
            </a:pPr>
            <a:r>
              <a:rPr lang="en-US" sz="10699">
                <a:solidFill>
                  <a:srgbClr val="19347E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DAHMpD0LwJQ</dc:identifier>
  <dcterms:modified xsi:type="dcterms:W3CDTF">2011-08-01T06:04:30Z</dcterms:modified>
  <cp:revision>1</cp:revision>
  <dc:title>NF06_EN - Friday Group 7</dc:title>
</cp:coreProperties>
</file>